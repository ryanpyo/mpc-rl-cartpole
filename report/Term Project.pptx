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95" r:id="rId2"/>
    <p:sldId id="401" r:id="rId3"/>
    <p:sldId id="409" r:id="rId4"/>
    <p:sldId id="410" r:id="rId5"/>
    <p:sldId id="411" r:id="rId6"/>
    <p:sldId id="412" r:id="rId7"/>
    <p:sldId id="419" r:id="rId8"/>
    <p:sldId id="413" r:id="rId9"/>
    <p:sldId id="414" r:id="rId10"/>
    <p:sldId id="417" r:id="rId11"/>
    <p:sldId id="418" r:id="rId12"/>
    <p:sldId id="415" r:id="rId13"/>
    <p:sldId id="416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E1E56B6-2872-4A97-8C63-CC3A9ECCF7A4}">
          <p14:sldIdLst>
            <p14:sldId id="295"/>
            <p14:sldId id="401"/>
            <p14:sldId id="409"/>
            <p14:sldId id="410"/>
            <p14:sldId id="411"/>
            <p14:sldId id="412"/>
            <p14:sldId id="419"/>
            <p14:sldId id="413"/>
            <p14:sldId id="414"/>
            <p14:sldId id="417"/>
            <p14:sldId id="418"/>
            <p14:sldId id="415"/>
            <p14:sldId id="416"/>
          </p14:sldIdLst>
        </p14:section>
        <p14:section name="제목 없는 구역" id="{9B6D785C-6233-4A74-92DA-9F36A2BF683B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184F5"/>
    <a:srgbClr val="B5B5B4"/>
    <a:srgbClr val="FFFFFF"/>
    <a:srgbClr val="D1D1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2784" y="31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583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CE6262-1673-47B9-B7C1-5F9B6D4F3283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1DDCA1-4313-41DE-B0D1-EF7AFE5EA6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733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14F8C-0D9E-4FCE-973B-D58022F8B19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7538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F3B17-7418-3B1C-C12A-5700ED0C1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F81B54-8F92-6B26-4CD0-2EB296188F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13FA7AD-5D9C-789E-E574-BD0AF5B427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CB3357-2309-15B0-2093-8112B86FA9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A646A-8BA3-4BD9-BA38-3E0615195B6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027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0C3B6-1622-D0DB-E886-44E3FC5B8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40531D-9CB0-9B21-A7F3-B1E911E7FB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89D295-A075-D918-BD10-9954A2208D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C5DF24-56EB-7894-4287-09222DF8A0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A646A-8BA3-4BD9-BA38-3E0615195B6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52101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A7A6D-27CA-E0E2-5448-3EE5C21C8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A6E1DE-0B03-448D-9566-2D8979C8C4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38FE53-551B-F076-2396-A46CBB0645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6BDE42-C255-F18F-9A11-4D2C3B9839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A646A-8BA3-4BD9-BA38-3E0615195B6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58819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1A081-3AB8-3011-BD2B-CBC6507BB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E3DE9B-0971-B1FF-D4A0-D18B9A7CED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D20185-BD41-ADFA-D6C9-15F4F93B7A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574F1A-3752-31C3-3727-E6264F94EC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A646A-8BA3-4BD9-BA38-3E0615195B6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5102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98DC9-64B9-6497-CAEF-4B97931C0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9C06B7-5E81-0549-8A69-597AD983D7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6511CD-FB1C-3D73-65EE-9A7A315015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F42A7F-53B7-AAD8-6847-01C2150DCA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A646A-8BA3-4BD9-BA38-3E0615195B6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92979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237CE-8976-F834-820E-5DE0858FE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22FAC1D-5C15-95EB-C65C-755708D8C9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9182D0-20AD-5ACC-D19F-6583F4234C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18398C-2A6E-1C97-986C-83BE1633D9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A646A-8BA3-4BD9-BA38-3E0615195B6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52493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12615-3D1B-AB52-53E8-059F34AE0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CDE7E4-BEE5-3DC4-5031-B78874BE99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104F3A-99E3-2FCF-7138-9396A45725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31E63F-B287-F31B-0773-0996F404DF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A646A-8BA3-4BD9-BA38-3E0615195B6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35516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A9815-DAD5-55E0-4E5D-8F5FEF0DC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DDE35C5-310A-DEE6-9C3F-20FB2A6EEA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A22874-4B23-6D5C-0817-904DA8A39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CAFE7F-53C7-C1AA-B870-E3A8BC4AD5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A646A-8BA3-4BD9-BA38-3E0615195B6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88919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3E7F6-3E0E-D41B-8AF8-8F088F195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C7BF80B-36B2-E349-7128-A8DE974F1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9AA5F8-C159-CFA8-AB58-6E89C686D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974E8B-FA14-0794-55E1-05C01C4ABF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A646A-8BA3-4BD9-BA38-3E0615195B6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65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C1F7B-EF00-E424-9A33-9D0BA0093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3687D8-477C-0FBB-36B8-D31DBAFCBF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773A07-4314-2C54-C5DD-99C3D0210F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94B8D6-4693-6ECC-0F62-216594176B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A646A-8BA3-4BD9-BA38-3E0615195B65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67414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09FEF-B16D-0BB6-3E26-CEA5C832D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3FBD50-323B-00FE-F1CF-36993A02A5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E34C86-D48E-D47D-FD97-A38E27C2D4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3B6AD9-A04F-B792-5B74-9CA6ABBF5D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A646A-8BA3-4BD9-BA38-3E0615195B65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6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2BFB9-4288-D9CA-F59E-A93B00877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CF3272F-F3CD-887C-15A4-85E86BE69F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664522-0C28-BA00-669A-9EB192E64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22916B-8522-2067-DBDD-576D04FEE3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A646A-8BA3-4BD9-BA38-3E0615195B6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047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02C1EC-2ACC-0CB2-A569-9BBCED34D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FF69729-D4D3-ACA8-5599-83EA59751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89B443-576E-8EEA-0782-E39BD6758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8D9E-207E-46A1-8A70-DB8C54B2A6C8}" type="datetime1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68A51E-0040-F06F-351B-C8091B56A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2BCFA9-A9A8-85AE-68EB-7262534ED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370F9-B2AE-4CC8-8DEC-A6E9A4457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342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9D4C88-72E0-076A-CF8A-F0A7884E0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15285C-4C41-DE74-E6E6-8FB501D76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873C16-E7E5-BCA2-F852-327214E1B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B4E3-CFA1-4E4F-90B1-FB37A2F9FC0E}" type="datetime1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E188C7-1D8E-96FC-58AE-B7B026160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45B04F-51F5-D7C1-5590-AF0AF382D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6209" y="230188"/>
            <a:ext cx="2743200" cy="365125"/>
          </a:xfrm>
        </p:spPr>
        <p:txBody>
          <a:bodyPr/>
          <a:lstStyle/>
          <a:p>
            <a:fld id="{803370F9-B2AE-4CC8-8DEC-A6E9A4457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9210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F41980-BBEC-53CA-F82D-F63ECC63F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DBB63E-9946-DA64-54B3-A87AD5025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CBD33F-3487-D4B1-652C-F8E68D971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2E2C-587E-4F01-9D57-127226B81CDC}" type="datetime1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A38DE9-A310-746A-4CDB-A7B551256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516B23-F520-E8B6-2652-F970E2FBA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370F9-B2AE-4CC8-8DEC-A6E9A4457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8958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EC0754-6DD1-D23E-ED77-52A3AC9FB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292912-64CC-EB01-411B-4BF8B8786E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6293F56-21D6-FD80-D868-72E1083F58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9E5465-4B7C-1410-690A-C7CE216B8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C2FF-021A-4DB4-8F84-0A050CAD49EC}" type="datetime1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2F8E50-9475-FA60-BC84-EB5D84BDA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5E2A32-E11C-C8D5-F82D-E3D19E004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370F9-B2AE-4CC8-8DEC-A6E9A4457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4819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19DA50-C302-DB3E-D9F8-D4E57A99F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E28EE7-157F-69E6-2425-2D16962ED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7DA22FB-4185-9DD9-874B-42CC804A4A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E52796C-0056-85B0-3516-D1E166E4C0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589A5D0-4C4C-1C29-47CD-ABFF2CABB1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73885E-6705-6EB0-45D9-52EC19679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B291-5352-47FE-9E51-C73DC6FF666A}" type="datetime1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F999797-534B-0CBB-823F-B4EFD3CAA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B320D6F-3213-868A-D15E-3B2A59376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370F9-B2AE-4CC8-8DEC-A6E9A4457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8800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8F98AF-4347-CC2A-EBCA-725D57891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1B5F98-B00F-23C1-490C-87D04D442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8CDF4-110C-4860-9416-8CEEBAEEDC81}" type="datetime1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A89635-2E12-AE6F-5CDA-953B55791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5941708-A51E-4B5D-14CA-B7DBD5CDF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370F9-B2AE-4CC8-8DEC-A6E9A4457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490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3056C2A-5E7B-6996-B196-511A5C9B5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7DD3B-9AEA-4F17-B35B-A384941E1ACB}" type="datetime1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0688166-6176-5AFD-BF93-867EA31D3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66BF8C-406E-3D89-306E-0FC6DB81C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370F9-B2AE-4CC8-8DEC-A6E9A4457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520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41DB6C-536E-8849-AE46-81C549419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EB4B3-9EB5-2414-34C5-9C7CD14C8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7BA162-37ED-98C3-63FC-A7E74C529F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0A4D0D1-07E1-6E25-05E7-09E800381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BFAA5-4AEC-4816-B2FB-C496985093F5}" type="datetime1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9199C4-0DE3-CD0A-7FA8-6F4063BAD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379C3D-57D0-CC5B-2055-82F478550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370F9-B2AE-4CC8-8DEC-A6E9A4457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348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9778D9-6BDC-0322-A8CC-53CF7E8A5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F0FC106-2376-7A35-36DE-D2C3F12759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8D005E6-8016-F578-E7B9-9DDFC9F85E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BBAE41B-576B-9D9D-15C2-C881CAF89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8A788-860C-4AA6-9679-91FB19B471A5}" type="datetime1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8CCD0D-DD62-EF55-5BC9-D406EECFB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70C658-250A-49F6-69B9-99C0ED24C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370F9-B2AE-4CC8-8DEC-A6E9A4457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6789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FE09DC-9F14-8CA6-72B6-AEA328650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D1EE6A2-6454-0F02-7C39-0FDEAE6AFD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7DF9EF-9287-F74D-8179-7D0A8E914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BE36D-07C3-47A7-9421-C5A7D4902B8C}" type="datetime1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0E98B-0FCC-2BA6-E8DE-29E45AED0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4ED14D-6099-D9C4-1A23-495B90DFD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370F9-B2AE-4CC8-8DEC-A6E9A4457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4733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500824B-E67B-C7A9-24D7-C5CE959E9E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515BE1-6150-D52E-B9BB-7C3C3B6F4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025186-1100-473D-2699-E5FA7F89D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49F12-9334-4D0E-86A1-06EDC5D4C151}" type="datetime1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5E2E19-EB16-588A-5063-C31159F72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E5F720-CAF4-83CF-03D4-B6D0CCD96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370F9-B2AE-4CC8-8DEC-A6E9A4457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0398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5BCB73C-EA2E-F184-F5BC-27587B05D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D8E227-D665-1D2F-3DF5-D5ED7CDC4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6A5392-47B9-3E7E-1218-52324B06FF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EB4191-A19F-4A94-8F4B-45A518B5270F}" type="datetime1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2BF55F-D285-D31C-0EF1-7594175C36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E41B9A-9ABF-A413-8CED-2FBDEAEFA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3843" y="3651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3370F9-B2AE-4CC8-8DEC-A6E9A4457EE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533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../media/image5.png"/><Relationship Id="rId3" Type="http://schemas.openxmlformats.org/officeDocument/2006/relationships/image" Target="../media/image4.png"/><Relationship Id="rId7" Type="http://schemas.openxmlformats.org/officeDocument/2006/relationships/image" Target="NULL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9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4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E2F11E2-6251-61C2-1137-A3031B5EE6DF}"/>
              </a:ext>
            </a:extLst>
          </p:cNvPr>
          <p:cNvSpPr/>
          <p:nvPr/>
        </p:nvSpPr>
        <p:spPr>
          <a:xfrm>
            <a:off x="0" y="0"/>
            <a:ext cx="12192000" cy="72000"/>
          </a:xfrm>
          <a:prstGeom prst="rect">
            <a:avLst/>
          </a:prstGeom>
          <a:solidFill>
            <a:srgbClr val="0928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9">
            <a:extLst>
              <a:ext uri="{FF2B5EF4-FFF2-40B4-BE49-F238E27FC236}">
                <a16:creationId xmlns:a16="http://schemas.microsoft.com/office/drawing/2014/main" id="{B2060AC1-2671-C4FC-69E5-0CC21A14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0520" y="212586"/>
            <a:ext cx="287700" cy="365125"/>
          </a:xfrm>
        </p:spPr>
        <p:txBody>
          <a:bodyPr/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2E89516-1C36-C2B9-A11E-F9F678E64FE0}"/>
              </a:ext>
            </a:extLst>
          </p:cNvPr>
          <p:cNvSpPr/>
          <p:nvPr/>
        </p:nvSpPr>
        <p:spPr>
          <a:xfrm>
            <a:off x="346586" y="3525216"/>
            <a:ext cx="11498828" cy="45719"/>
          </a:xfrm>
          <a:prstGeom prst="rect">
            <a:avLst/>
          </a:prstGeom>
          <a:solidFill>
            <a:srgbClr val="89AA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48020C-9DBB-B595-F50D-8CC18862D03D}"/>
              </a:ext>
            </a:extLst>
          </p:cNvPr>
          <p:cNvSpPr txBox="1"/>
          <p:nvPr/>
        </p:nvSpPr>
        <p:spPr>
          <a:xfrm>
            <a:off x="113562" y="2366787"/>
            <a:ext cx="119648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Reinforcement Learning</a:t>
            </a:r>
            <a:br>
              <a:rPr lang="en-US" altLang="ko-K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Term Project –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66D1991-9DEA-59CB-204D-993EAA47708A}"/>
              </a:ext>
            </a:extLst>
          </p:cNvPr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0928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4CCB86-28FF-13F8-9A5E-69ED1FBB7406}"/>
              </a:ext>
            </a:extLst>
          </p:cNvPr>
          <p:cNvSpPr txBox="1"/>
          <p:nvPr/>
        </p:nvSpPr>
        <p:spPr>
          <a:xfrm>
            <a:off x="113562" y="3761390"/>
            <a:ext cx="11964875" cy="1891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b="1" dirty="0"/>
              <a:t>서강대학교 기계공학과</a:t>
            </a:r>
            <a:endParaRPr lang="en-US" altLang="ko-KR" sz="1600" b="1" dirty="0"/>
          </a:p>
          <a:p>
            <a:pPr algn="ctr">
              <a:lnSpc>
                <a:spcPct val="150000"/>
              </a:lnSpc>
            </a:pPr>
            <a:r>
              <a:rPr lang="ko-KR" altLang="en-US" sz="1600" b="1" dirty="0" err="1"/>
              <a:t>기말쉽게내조</a:t>
            </a:r>
            <a:endParaRPr lang="en-US" altLang="ko-KR" sz="1600" b="1" dirty="0"/>
          </a:p>
          <a:p>
            <a:pPr algn="ctr">
              <a:lnSpc>
                <a:spcPct val="150000"/>
              </a:lnSpc>
            </a:pPr>
            <a:r>
              <a:rPr lang="en-US" altLang="ko-KR" sz="1600" b="1" dirty="0"/>
              <a:t>320250213 </a:t>
            </a:r>
            <a:r>
              <a:rPr lang="ko-KR" altLang="en-US" sz="1600" b="1" dirty="0" err="1"/>
              <a:t>표진우</a:t>
            </a:r>
            <a:endParaRPr lang="en-US" altLang="ko-KR" sz="1600" b="1" dirty="0"/>
          </a:p>
          <a:p>
            <a:pPr algn="ctr">
              <a:lnSpc>
                <a:spcPct val="150000"/>
              </a:lnSpc>
            </a:pPr>
            <a:r>
              <a:rPr lang="en-US" altLang="ko-KR" sz="1600" b="1" dirty="0"/>
              <a:t>120250367 </a:t>
            </a:r>
            <a:r>
              <a:rPr lang="ko-KR" altLang="en-US" sz="1600" b="1" dirty="0" err="1"/>
              <a:t>이충현</a:t>
            </a:r>
            <a:endParaRPr lang="en-US" altLang="ko-KR" sz="1600" b="1" dirty="0"/>
          </a:p>
          <a:p>
            <a:pPr algn="ctr">
              <a:lnSpc>
                <a:spcPct val="150000"/>
              </a:lnSpc>
            </a:pPr>
            <a:r>
              <a:rPr lang="en-US" altLang="ko-KR" sz="1600" dirty="0" err="1"/>
              <a:t>Github</a:t>
            </a:r>
            <a:r>
              <a:rPr lang="en-US" altLang="ko-KR" sz="1600" dirty="0"/>
              <a:t> page: https://github.com/RyanPyo/MPC-RL-cartpole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BD05FDB-8109-8CB0-8587-E9B3EF8967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4427" b="-10897"/>
          <a:stretch>
            <a:fillRect/>
          </a:stretch>
        </p:blipFill>
        <p:spPr>
          <a:xfrm>
            <a:off x="5308852" y="5843197"/>
            <a:ext cx="1574294" cy="73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481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3280F-F5C7-ED16-845E-9D02962DB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4EEC5-ADC0-0D96-F037-28D30090E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6400"/>
            <a:ext cx="10515600" cy="732155"/>
          </a:xfrm>
        </p:spPr>
        <p:txBody>
          <a:bodyPr>
            <a:normAutofit/>
          </a:bodyPr>
          <a:lstStyle/>
          <a:p>
            <a:r>
              <a:rPr lang="en-US" altLang="ko-K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 </a:t>
            </a:r>
            <a:endParaRPr lang="ko-KR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BD61332-071E-420D-A834-924914CB1F10}"/>
              </a:ext>
            </a:extLst>
          </p:cNvPr>
          <p:cNvSpPr/>
          <p:nvPr/>
        </p:nvSpPr>
        <p:spPr>
          <a:xfrm>
            <a:off x="0" y="0"/>
            <a:ext cx="12192000" cy="72000"/>
          </a:xfrm>
          <a:prstGeom prst="rect">
            <a:avLst/>
          </a:prstGeom>
          <a:solidFill>
            <a:srgbClr val="0928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591F3FE-FA97-3BE1-25F4-F45FD3F5CF12}"/>
              </a:ext>
            </a:extLst>
          </p:cNvPr>
          <p:cNvSpPr/>
          <p:nvPr/>
        </p:nvSpPr>
        <p:spPr>
          <a:xfrm>
            <a:off x="210394" y="657361"/>
            <a:ext cx="7920000" cy="45719"/>
          </a:xfrm>
          <a:prstGeom prst="rect">
            <a:avLst/>
          </a:prstGeom>
          <a:solidFill>
            <a:srgbClr val="6184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947A7E-1335-8C0E-141C-C6A6657D5177}"/>
              </a:ext>
            </a:extLst>
          </p:cNvPr>
          <p:cNvSpPr txBox="1"/>
          <p:nvPr/>
        </p:nvSpPr>
        <p:spPr>
          <a:xfrm>
            <a:off x="210394" y="838161"/>
            <a:ext cx="5341786" cy="5150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ko-KR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Configuration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 Results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SAC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ko-KR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Conclusions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DC221D4-5124-C037-188F-30EA1FF34252}"/>
              </a:ext>
            </a:extLst>
          </p:cNvPr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0928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43CC0A-36E4-E1E7-A60B-46D95A2DD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370F9-B2AE-4CC8-8DEC-A6E9A4457EE0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8" name="그림 7" descr="양초, 이쑤시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E99438-E72C-7D1E-6C3C-58523BDF9D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960" y="1057275"/>
            <a:ext cx="5715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337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E7B02-7F7A-23E5-6DA3-6CC3390BE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EF900A-40EF-FC88-F33F-1B6B23E69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6400"/>
            <a:ext cx="10515600" cy="732155"/>
          </a:xfrm>
        </p:spPr>
        <p:txBody>
          <a:bodyPr>
            <a:normAutofit/>
          </a:bodyPr>
          <a:lstStyle/>
          <a:p>
            <a:r>
              <a:rPr lang="en-US" altLang="ko-K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ko-KR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8314196-AE0E-F8F2-A621-A66FDAAC744E}"/>
              </a:ext>
            </a:extLst>
          </p:cNvPr>
          <p:cNvSpPr/>
          <p:nvPr/>
        </p:nvSpPr>
        <p:spPr>
          <a:xfrm>
            <a:off x="0" y="0"/>
            <a:ext cx="12192000" cy="72000"/>
          </a:xfrm>
          <a:prstGeom prst="rect">
            <a:avLst/>
          </a:prstGeom>
          <a:solidFill>
            <a:srgbClr val="0928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7EBAF87-7EC0-8FE7-1E74-196D14B5534B}"/>
              </a:ext>
            </a:extLst>
          </p:cNvPr>
          <p:cNvSpPr/>
          <p:nvPr/>
        </p:nvSpPr>
        <p:spPr>
          <a:xfrm>
            <a:off x="210394" y="657361"/>
            <a:ext cx="7920000" cy="45719"/>
          </a:xfrm>
          <a:prstGeom prst="rect">
            <a:avLst/>
          </a:prstGeom>
          <a:solidFill>
            <a:srgbClr val="6184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9F847E-851F-A54F-CFED-DACA36DDCE1A}"/>
              </a:ext>
            </a:extLst>
          </p:cNvPr>
          <p:cNvSpPr txBox="1"/>
          <p:nvPr/>
        </p:nvSpPr>
        <p:spPr>
          <a:xfrm>
            <a:off x="210393" y="744955"/>
            <a:ext cx="5341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&lt;Project Background&gt;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4D8F5-F804-0EB6-BAAF-9A73198BB417}"/>
              </a:ext>
            </a:extLst>
          </p:cNvPr>
          <p:cNvSpPr txBox="1"/>
          <p:nvPr/>
        </p:nvSpPr>
        <p:spPr>
          <a:xfrm>
            <a:off x="210393" y="1114287"/>
            <a:ext cx="11771213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real robotic control systems, model uncertainty significantly degrades the performance of model-based controllers.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(RL) can compensate for uncertainty and nonlinearities through learning, but it often suffers from stability issues and low sample efficiency.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Recently, hybrid control frameworks that combine the stability and constraint-handling capability of Model Predictive Control (MPC) with the adaptability of RL have gained considerable attention.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F1162B-B68F-C82D-2317-ADD91F0F19BD}"/>
              </a:ext>
            </a:extLst>
          </p:cNvPr>
          <p:cNvSpPr txBox="1"/>
          <p:nvPr/>
        </p:nvSpPr>
        <p:spPr>
          <a:xfrm>
            <a:off x="210393" y="3335528"/>
            <a:ext cx="5341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&lt;Problem Definition&gt;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23DBA3-1DF4-9273-F230-6CDB6DCF5D47}"/>
                  </a:ext>
                </a:extLst>
              </p:cNvPr>
              <p:cNvSpPr txBox="1"/>
              <p:nvPr/>
            </p:nvSpPr>
            <p:spPr>
              <a:xfrm>
                <a:off x="210394" y="3708643"/>
                <a:ext cx="11486306" cy="2535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 adding an RL agent’s residual 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𝑟𝑒𝑠𝑖𝑑𝑢𝑎𝑙</m:t>
                        </m:r>
                      </m:sub>
                    </m:sSub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the MPC controller’s output, it is possible to compensate for model mismatch.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project systematically compares pure MPC control with MPC + Residual RL control in terms of the following evaluation items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 Stability under mass variation  2) Stability under push disturbances  </a:t>
                </a:r>
                <a:b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3) Stability under model mismatch + push disturbance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23DBA3-1DF4-9273-F230-6CDB6DCF5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394" y="3708643"/>
                <a:ext cx="11486306" cy="2535566"/>
              </a:xfrm>
              <a:prstGeom prst="rect">
                <a:avLst/>
              </a:prstGeom>
              <a:blipFill>
                <a:blip r:embed="rId3"/>
                <a:stretch>
                  <a:fillRect r="-637" b="-28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C580210B-1CD7-B023-CFAD-49CD36938D7E}"/>
              </a:ext>
            </a:extLst>
          </p:cNvPr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0928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E5FD6CE6-9B5C-BEBC-C157-D31C549C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370F9-B2AE-4CC8-8DEC-A6E9A4457EE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3794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A671B-145C-90AD-BEDB-98B52B700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689A84-CB8E-5F6A-3CA5-264E7FAF5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6400"/>
            <a:ext cx="10515600" cy="732155"/>
          </a:xfrm>
        </p:spPr>
        <p:txBody>
          <a:bodyPr>
            <a:normAutofit/>
          </a:bodyPr>
          <a:lstStyle/>
          <a:p>
            <a:r>
              <a:rPr lang="en-US" altLang="ko-K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Modeling</a:t>
            </a:r>
            <a:endParaRPr lang="ko-KR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EAEC2A-0437-799E-6BEB-70BB008F0B7E}"/>
              </a:ext>
            </a:extLst>
          </p:cNvPr>
          <p:cNvSpPr/>
          <p:nvPr/>
        </p:nvSpPr>
        <p:spPr>
          <a:xfrm>
            <a:off x="0" y="0"/>
            <a:ext cx="12192000" cy="72000"/>
          </a:xfrm>
          <a:prstGeom prst="rect">
            <a:avLst/>
          </a:prstGeom>
          <a:solidFill>
            <a:srgbClr val="0928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B1A7F7C-A96C-8326-337B-5F4E344F426A}"/>
              </a:ext>
            </a:extLst>
          </p:cNvPr>
          <p:cNvSpPr/>
          <p:nvPr/>
        </p:nvSpPr>
        <p:spPr>
          <a:xfrm>
            <a:off x="210394" y="657361"/>
            <a:ext cx="7920000" cy="45719"/>
          </a:xfrm>
          <a:prstGeom prst="rect">
            <a:avLst/>
          </a:prstGeom>
          <a:solidFill>
            <a:srgbClr val="6184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9D114EE-46F5-A8BF-522F-FD7CBCBAAF74}"/>
                  </a:ext>
                </a:extLst>
              </p:cNvPr>
              <p:cNvSpPr txBox="1"/>
              <p:nvPr/>
            </p:nvSpPr>
            <p:spPr>
              <a:xfrm>
                <a:off x="279012" y="896691"/>
                <a:ext cx="5341786" cy="19057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Cart Pole system modeling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State vector = </a:t>
                </a:r>
                <a14:m>
                  <m:oMath xmlns:m="http://schemas.openxmlformats.org/officeDocument/2006/math">
                    <m:r>
                      <a:rPr lang="en-US" altLang="ko-KR" sz="2000" b="0" smtClean="0"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US" altLang="ko-KR" sz="2000" b="0" i="1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ko-KR" sz="2000" b="0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̇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  <m:r>
                      <a:rPr lang="en-US" altLang="ko-KR" sz="2000" b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ko-KR" sz="2000" b="0" i="1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ko-KR" sz="2000" b="0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̇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acc>
                    <m:r>
                      <a:rPr lang="en-US" altLang="ko-KR" sz="2000" b="0" smtClean="0">
                        <a:latin typeface="Cambria Math" panose="02040503050406030204" pitchFamily="18" charset="0"/>
                      </a:rPr>
                      <m:t> }</m:t>
                    </m:r>
                  </m:oMath>
                </a14:m>
                <a:endParaRPr lang="en-US" altLang="ko-KR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State space equation of cart pole</a:t>
                </a:r>
              </a:p>
              <a:p>
                <a:pPr>
                  <a:lnSpc>
                    <a:spcPct val="150000"/>
                  </a:lnSpc>
                </a:pPr>
                <a:endParaRPr lang="ko-KR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9D114EE-46F5-A8BF-522F-FD7CBCBAAF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012" y="896691"/>
                <a:ext cx="5341786" cy="1905778"/>
              </a:xfrm>
              <a:prstGeom prst="rect">
                <a:avLst/>
              </a:prstGeom>
              <a:blipFill>
                <a:blip r:embed="rId3"/>
                <a:stretch>
                  <a:fillRect l="-12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직사각형 3">
            <a:extLst>
              <a:ext uri="{FF2B5EF4-FFF2-40B4-BE49-F238E27FC236}">
                <a16:creationId xmlns:a16="http://schemas.microsoft.com/office/drawing/2014/main" id="{A060F3D7-525C-D159-4D58-9E87D5E2DA3F}"/>
              </a:ext>
            </a:extLst>
          </p:cNvPr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0928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5659E1D-9E08-99DC-EE9F-25D9838DD5DA}"/>
              </a:ext>
            </a:extLst>
          </p:cNvPr>
          <p:cNvGrpSpPr/>
          <p:nvPr/>
        </p:nvGrpSpPr>
        <p:grpSpPr>
          <a:xfrm>
            <a:off x="8124859" y="843024"/>
            <a:ext cx="1541864" cy="1894026"/>
            <a:chOff x="7219040" y="844195"/>
            <a:chExt cx="1541864" cy="1894026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4EF7D2CA-62D2-6D24-58CB-BCFA275ACFA3}"/>
                </a:ext>
              </a:extLst>
            </p:cNvPr>
            <p:cNvCxnSpPr/>
            <p:nvPr/>
          </p:nvCxnSpPr>
          <p:spPr>
            <a:xfrm>
              <a:off x="8505184" y="1214217"/>
              <a:ext cx="203293" cy="109318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BD11511-83A1-8287-1B56-B08C12E0C653}"/>
                </a:ext>
              </a:extLst>
            </p:cNvPr>
            <p:cNvSpPr/>
            <p:nvPr/>
          </p:nvSpPr>
          <p:spPr>
            <a:xfrm>
              <a:off x="7766918" y="2265804"/>
              <a:ext cx="497257" cy="30956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169237B2-EDD3-592E-39E4-072E6E41429F}"/>
                </a:ext>
              </a:extLst>
            </p:cNvPr>
            <p:cNvCxnSpPr/>
            <p:nvPr/>
          </p:nvCxnSpPr>
          <p:spPr>
            <a:xfrm>
              <a:off x="7412503" y="2738221"/>
              <a:ext cx="1348401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0041FB60-0260-D76C-2E32-16B22FA6E4B3}"/>
                </a:ext>
              </a:extLst>
            </p:cNvPr>
            <p:cNvSpPr/>
            <p:nvPr/>
          </p:nvSpPr>
          <p:spPr>
            <a:xfrm>
              <a:off x="7766918" y="2586157"/>
              <a:ext cx="140493" cy="13335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A2EE8B4F-6F32-14CB-0348-5B28A93ABFF6}"/>
                </a:ext>
              </a:extLst>
            </p:cNvPr>
            <p:cNvSpPr/>
            <p:nvPr/>
          </p:nvSpPr>
          <p:spPr>
            <a:xfrm>
              <a:off x="8123682" y="2586157"/>
              <a:ext cx="140493" cy="13335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EEDB15B-3308-785F-71D5-36CF21F747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4345" y="1274961"/>
              <a:ext cx="469133" cy="99329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0F3AA3D0-7E39-7F81-47F5-10F79BAFA7E0}"/>
                </a:ext>
              </a:extLst>
            </p:cNvPr>
            <p:cNvSpPr/>
            <p:nvPr/>
          </p:nvSpPr>
          <p:spPr>
            <a:xfrm>
              <a:off x="8434938" y="1147542"/>
              <a:ext cx="140493" cy="13335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C45E33D2-962B-751A-7F82-3220D91E7858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H="1" flipV="1">
              <a:off x="8009986" y="993961"/>
              <a:ext cx="0" cy="1271843"/>
            </a:xfrm>
            <a:prstGeom prst="line">
              <a:avLst/>
            </a:prstGeom>
            <a:ln w="19050">
              <a:solidFill>
                <a:schemeClr val="tx1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원호 15">
              <a:extLst>
                <a:ext uri="{FF2B5EF4-FFF2-40B4-BE49-F238E27FC236}">
                  <a16:creationId xmlns:a16="http://schemas.microsoft.com/office/drawing/2014/main" id="{D497A3F8-F165-FF4B-40F6-5A06875AE8B6}"/>
                </a:ext>
              </a:extLst>
            </p:cNvPr>
            <p:cNvSpPr/>
            <p:nvPr/>
          </p:nvSpPr>
          <p:spPr>
            <a:xfrm rot="1049627">
              <a:off x="7966753" y="1578697"/>
              <a:ext cx="303457" cy="250825"/>
            </a:xfrm>
            <a:prstGeom prst="arc">
              <a:avLst>
                <a:gd name="adj1" fmla="val 12521494"/>
                <a:gd name="adj2" fmla="val 20534497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7AEC18C-B1BF-0881-29FC-1AD3FA459712}"/>
                    </a:ext>
                  </a:extLst>
                </p:cNvPr>
                <p:cNvSpPr txBox="1"/>
                <p:nvPr/>
              </p:nvSpPr>
              <p:spPr>
                <a:xfrm>
                  <a:off x="8037238" y="1268202"/>
                  <a:ext cx="208798" cy="5160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600" i="1" spc="-90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ko-KR" altLang="en-US" sz="1600" spc="-9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82D3EA9-E6BC-8ECE-BD1C-57BB4F0CE7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37238" y="1268202"/>
                  <a:ext cx="208798" cy="51603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82D81AD-701A-5771-0577-DFC7E6CDD2D3}"/>
                    </a:ext>
                  </a:extLst>
                </p:cNvPr>
                <p:cNvSpPr txBox="1"/>
                <p:nvPr/>
              </p:nvSpPr>
              <p:spPr>
                <a:xfrm>
                  <a:off x="7790403" y="2216055"/>
                  <a:ext cx="447079" cy="5160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pc="-9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600" i="1" spc="-9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ko-KR" altLang="en-US" sz="1600" spc="-9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F92F806-ADA7-C1B9-226C-8E5C33A638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90403" y="2216055"/>
                  <a:ext cx="447079" cy="51603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41E4DF96-38CD-EDC8-A630-DDD5FCCAB49C}"/>
                    </a:ext>
                  </a:extLst>
                </p:cNvPr>
                <p:cNvSpPr txBox="1"/>
                <p:nvPr/>
              </p:nvSpPr>
              <p:spPr>
                <a:xfrm>
                  <a:off x="8273287" y="844195"/>
                  <a:ext cx="447079" cy="5160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pc="-9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600" i="1" spc="-90"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lang="ko-KR" altLang="en-US" sz="1600" i="1" spc="-9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4D68B1E-438D-A677-29C8-F6A138BCBC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3287" y="844195"/>
                  <a:ext cx="447079" cy="51603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5707C1D-B3C8-CC99-F42D-75C0406B7E64}"/>
                </a:ext>
              </a:extLst>
            </p:cNvPr>
            <p:cNvCxnSpPr/>
            <p:nvPr/>
          </p:nvCxnSpPr>
          <p:spPr>
            <a:xfrm>
              <a:off x="8004985" y="2255383"/>
              <a:ext cx="203293" cy="109318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2778F7D2-E3D5-1FB9-FBF8-B8B6B27E14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78782" y="1300825"/>
              <a:ext cx="492549" cy="1035961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FA36F85-F021-4254-3335-A0EEA4BFA7ED}"/>
                    </a:ext>
                  </a:extLst>
                </p:cNvPr>
                <p:cNvSpPr txBox="1"/>
                <p:nvPr/>
              </p:nvSpPr>
              <p:spPr>
                <a:xfrm>
                  <a:off x="8271082" y="1719467"/>
                  <a:ext cx="447079" cy="5160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i="1" spc="-90">
                            <a:latin typeface="Cambria Math" panose="02040503050406030204" pitchFamily="18" charset="0"/>
                          </a:rPr>
                          <m:t>𝑙</m:t>
                        </m:r>
                      </m:oMath>
                    </m:oMathPara>
                  </a14:m>
                  <a:endParaRPr lang="ko-KR" altLang="en-US" sz="1600" i="1" spc="-9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45C833E-84F2-385D-D463-7A212B75F5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1082" y="1719467"/>
                  <a:ext cx="447079" cy="51603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B1B72394-72A6-BF6C-741A-BBF0D12CBF7D}"/>
                </a:ext>
              </a:extLst>
            </p:cNvPr>
            <p:cNvCxnSpPr/>
            <p:nvPr/>
          </p:nvCxnSpPr>
          <p:spPr>
            <a:xfrm flipV="1">
              <a:off x="7468422" y="1552355"/>
              <a:ext cx="0" cy="3600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69FF165C-C949-F7D1-CF5E-3C638F250ABB}"/>
                </a:ext>
              </a:extLst>
            </p:cNvPr>
            <p:cNvCxnSpPr>
              <a:cxnSpLocks/>
            </p:cNvCxnSpPr>
            <p:nvPr/>
          </p:nvCxnSpPr>
          <p:spPr>
            <a:xfrm>
              <a:off x="7457747" y="1911013"/>
              <a:ext cx="36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42AE618-78B1-C3DB-6C0B-B385D2FB7607}"/>
                    </a:ext>
                  </a:extLst>
                </p:cNvPr>
                <p:cNvSpPr txBox="1"/>
                <p:nvPr/>
              </p:nvSpPr>
              <p:spPr>
                <a:xfrm>
                  <a:off x="7219040" y="1219626"/>
                  <a:ext cx="447079" cy="5160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pc="-9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600" i="1" spc="-9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ko-KR" altLang="en-US" sz="1600" i="1" spc="-9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4CA6A4F-D3CC-C485-D5FB-BD4BD8A071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9040" y="1219626"/>
                  <a:ext cx="447079" cy="51603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568D567F-79F5-DD11-69A4-51F370492FAF}"/>
                    </a:ext>
                  </a:extLst>
                </p:cNvPr>
                <p:cNvSpPr txBox="1"/>
                <p:nvPr/>
              </p:nvSpPr>
              <p:spPr>
                <a:xfrm>
                  <a:off x="7536697" y="1560741"/>
                  <a:ext cx="447079" cy="5160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pc="-9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600" i="1" spc="-9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ko-KR" altLang="en-US" sz="1600" i="1" spc="-9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9253488-8095-C456-A969-DC06B9F554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6697" y="1560741"/>
                  <a:ext cx="447079" cy="51603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EB27E4D9-BF7D-D7A7-6B79-18FD0ADC576F}"/>
                </a:ext>
              </a:extLst>
            </p:cNvPr>
            <p:cNvCxnSpPr>
              <a:cxnSpLocks/>
            </p:cNvCxnSpPr>
            <p:nvPr/>
          </p:nvCxnSpPr>
          <p:spPr>
            <a:xfrm>
              <a:off x="7400236" y="2426244"/>
              <a:ext cx="36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7383B998-71D0-BBA3-8874-240186137A9F}"/>
                    </a:ext>
                  </a:extLst>
                </p:cNvPr>
                <p:cNvSpPr txBox="1"/>
                <p:nvPr/>
              </p:nvSpPr>
              <p:spPr>
                <a:xfrm>
                  <a:off x="7345741" y="2094051"/>
                  <a:ext cx="447079" cy="5160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pc="-9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600" i="1" spc="-90"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lang="ko-KR" altLang="en-US" sz="1600" i="1" spc="-9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B89057C-8BF8-A4C2-DAA3-951215CC93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5741" y="2094051"/>
                  <a:ext cx="447079" cy="51603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9" name="표 28">
                <a:extLst>
                  <a:ext uri="{FF2B5EF4-FFF2-40B4-BE49-F238E27FC236}">
                    <a16:creationId xmlns:a16="http://schemas.microsoft.com/office/drawing/2014/main" id="{87A7B228-2A1D-83FB-4509-5EE7092946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1670104"/>
                  </p:ext>
                </p:extLst>
              </p:nvPr>
            </p:nvGraphicFramePr>
            <p:xfrm>
              <a:off x="6904282" y="3915732"/>
              <a:ext cx="4186136" cy="2406929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1034374">
                      <a:extLst>
                        <a:ext uri="{9D8B030D-6E8A-4147-A177-3AD203B41FA5}">
                          <a16:colId xmlns:a16="http://schemas.microsoft.com/office/drawing/2014/main" val="3044508429"/>
                        </a:ext>
                      </a:extLst>
                    </a:gridCol>
                    <a:gridCol w="1391488">
                      <a:extLst>
                        <a:ext uri="{9D8B030D-6E8A-4147-A177-3AD203B41FA5}">
                          <a16:colId xmlns:a16="http://schemas.microsoft.com/office/drawing/2014/main" val="892965697"/>
                        </a:ext>
                      </a:extLst>
                    </a:gridCol>
                    <a:gridCol w="1760274">
                      <a:extLst>
                        <a:ext uri="{9D8B030D-6E8A-4147-A177-3AD203B41FA5}">
                          <a16:colId xmlns:a16="http://schemas.microsoft.com/office/drawing/2014/main" val="633169209"/>
                        </a:ext>
                      </a:extLst>
                    </a:gridCol>
                  </a:tblGrid>
                  <a:tr h="343847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Variable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Unit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038501"/>
                      </a:ext>
                    </a:extLst>
                  </a:tr>
                  <a:tr h="34384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smtClean="0">
                                    <a:latin typeface="Cambria Math" panose="02040503050406030204" pitchFamily="18" charset="0"/>
                                  </a:rPr>
                                  <m:t>𝑘𝑔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56136080"/>
                      </a:ext>
                    </a:extLst>
                  </a:tr>
                  <a:tr h="34384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smtClean="0">
                                    <a:latin typeface="Cambria Math" panose="02040503050406030204" pitchFamily="18" charset="0"/>
                                  </a:rPr>
                                  <m:t>𝑘𝑔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23271570"/>
                      </a:ext>
                    </a:extLst>
                  </a:tr>
                  <a:tr h="34384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7789884"/>
                      </a:ext>
                    </a:extLst>
                  </a:tr>
                  <a:tr h="34384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0.033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smtClean="0">
                                    <a:latin typeface="Cambria Math" panose="02040503050406030204" pitchFamily="18" charset="0"/>
                                  </a:rPr>
                                  <m:t>𝑘𝑔</m:t>
                                </m:r>
                                <m:r>
                                  <a:rPr lang="en-US" altLang="ko-KR" sz="1400" b="0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400" b="0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p>
                                    <m:r>
                                      <a:rPr lang="en-US" altLang="ko-KR" sz="14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22406161"/>
                      </a:ext>
                    </a:extLst>
                  </a:tr>
                  <a:tr h="34384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smtClean="0">
                                    <a:latin typeface="Cambria Math" panose="02040503050406030204" pitchFamily="18" charset="0"/>
                                  </a:rPr>
                                  <m:t>𝑘𝑔</m:t>
                                </m:r>
                                <m:r>
                                  <a:rPr lang="en-US" altLang="ko-KR" sz="1400" b="0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altLang="ko-KR" sz="1400" b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sz="1400" b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p>
                                  <m:sSup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400" b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altLang="ko-KR" sz="14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6427514"/>
                      </a:ext>
                    </a:extLst>
                  </a:tr>
                  <a:tr h="34384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9.81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ko-KR" sz="1400" b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p>
                                  <m:sSup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400" b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altLang="ko-KR" sz="14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516676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9" name="표 28">
                <a:extLst>
                  <a:ext uri="{FF2B5EF4-FFF2-40B4-BE49-F238E27FC236}">
                    <a16:creationId xmlns:a16="http://schemas.microsoft.com/office/drawing/2014/main" id="{87A7B228-2A1D-83FB-4509-5EE7092946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1670104"/>
                  </p:ext>
                </p:extLst>
              </p:nvPr>
            </p:nvGraphicFramePr>
            <p:xfrm>
              <a:off x="6904282" y="3915732"/>
              <a:ext cx="4186136" cy="2406929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1034374">
                      <a:extLst>
                        <a:ext uri="{9D8B030D-6E8A-4147-A177-3AD203B41FA5}">
                          <a16:colId xmlns:a16="http://schemas.microsoft.com/office/drawing/2014/main" val="3044508429"/>
                        </a:ext>
                      </a:extLst>
                    </a:gridCol>
                    <a:gridCol w="1391488">
                      <a:extLst>
                        <a:ext uri="{9D8B030D-6E8A-4147-A177-3AD203B41FA5}">
                          <a16:colId xmlns:a16="http://schemas.microsoft.com/office/drawing/2014/main" val="892965697"/>
                        </a:ext>
                      </a:extLst>
                    </a:gridCol>
                    <a:gridCol w="1760274">
                      <a:extLst>
                        <a:ext uri="{9D8B030D-6E8A-4147-A177-3AD203B41FA5}">
                          <a16:colId xmlns:a16="http://schemas.microsoft.com/office/drawing/2014/main" val="633169209"/>
                        </a:ext>
                      </a:extLst>
                    </a:gridCol>
                  </a:tblGrid>
                  <a:tr h="343847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Variable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Unit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038501"/>
                      </a:ext>
                    </a:extLst>
                  </a:tr>
                  <a:tr h="34384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12"/>
                          <a:stretch>
                            <a:fillRect t="-103571" r="-305294" b="-510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12"/>
                          <a:stretch>
                            <a:fillRect l="-138062" t="-103571" r="-346" b="-510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6136080"/>
                      </a:ext>
                    </a:extLst>
                  </a:tr>
                  <a:tr h="34384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12"/>
                          <a:stretch>
                            <a:fillRect t="-200000" r="-305294" b="-401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12"/>
                          <a:stretch>
                            <a:fillRect l="-138062" t="-200000" r="-346" b="-401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3271570"/>
                      </a:ext>
                    </a:extLst>
                  </a:tr>
                  <a:tr h="34384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12"/>
                          <a:stretch>
                            <a:fillRect t="-305357" r="-305294" b="-3089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12"/>
                          <a:stretch>
                            <a:fillRect l="-138062" t="-305357" r="-346" b="-3089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7789884"/>
                      </a:ext>
                    </a:extLst>
                  </a:tr>
                  <a:tr h="34384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12"/>
                          <a:stretch>
                            <a:fillRect t="-398246" r="-305294" b="-2035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0.033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12"/>
                          <a:stretch>
                            <a:fillRect l="-138062" t="-398246" r="-346" b="-2035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22406161"/>
                      </a:ext>
                    </a:extLst>
                  </a:tr>
                  <a:tr h="34384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12"/>
                          <a:stretch>
                            <a:fillRect t="-507143" r="-305294" b="-1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12"/>
                          <a:stretch>
                            <a:fillRect l="-138062" t="-507143" r="-346" b="-10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6427514"/>
                      </a:ext>
                    </a:extLst>
                  </a:tr>
                  <a:tr h="34384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12"/>
                          <a:stretch>
                            <a:fillRect t="-596491" r="-305294" b="-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9.81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12"/>
                          <a:stretch>
                            <a:fillRect l="-138062" t="-596491" r="-346" b="-52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166766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0866F37-6A6A-2D66-AF2E-FDD79C375CF1}"/>
                  </a:ext>
                </a:extLst>
              </p:cNvPr>
              <p:cNvSpPr txBox="1"/>
              <p:nvPr/>
            </p:nvSpPr>
            <p:spPr>
              <a:xfrm>
                <a:off x="210394" y="2730923"/>
                <a:ext cx="5861286" cy="25793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altLang="ko-KR" i="1" spc="-9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pc="-9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altLang="ko-KR" b="0" i="1" spc="-9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 spc="-9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 spc="-9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b="0" i="1" spc="-9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pc="-9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b="0" i="1" spc="-9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pc="-9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pc="-9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pc="-9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ko-KR" i="1" spc="-9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b="0" i="1" spc="-9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b="0" i="1" spc="-9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𝐼</m:t>
                                    </m:r>
                                    <m:r>
                                      <a:rPr lang="en-US" altLang="ko-KR" b="0" i="1" spc="-9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ko-KR" b="0" i="1" spc="-9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  <m:sSup>
                                      <m:sSupPr>
                                        <m:ctrlPr>
                                          <a:rPr lang="en-US" altLang="ko-KR" i="1" spc="-9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b="0" i="1" spc="-9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e>
                                      <m:sup>
                                        <m:r>
                                          <a:rPr lang="en-US" altLang="ko-KR" b="0" i="1" spc="-9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altLang="ko-KR" b="0" i="1" spc="-9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ko-KR" altLang="en-US" b="0" i="1" spc="-9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𝛹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ko-KR" i="1" spc="-9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altLang="ko-KR" i="1" spc="-9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b="0" i="1" spc="-9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p>
                                        <m:r>
                                          <a:rPr lang="en-US" altLang="ko-KR" b="0" i="1" spc="-9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en-US" altLang="ko-KR" i="1" spc="-9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b="0" i="1" spc="-9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e>
                                      <m:sup>
                                        <m:r>
                                          <a:rPr lang="en-US" altLang="ko-KR" b="0" i="1" spc="-9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altLang="ko-KR" b="0" i="1" spc="-9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𝑔</m:t>
                                    </m:r>
                                  </m:num>
                                  <m:den>
                                    <m:r>
                                      <a:rPr lang="ko-KR" altLang="en-US" b="0" i="1" spc="-9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𝛹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altLang="ko-KR" b="0" i="1" spc="-9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pc="-9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pc="-9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pc="-9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pc="-9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pc="-9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pc="-9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ko-KR" i="1" spc="-9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b="0" i="1" spc="-9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𝑚𝑙𝑏</m:t>
                                    </m:r>
                                  </m:num>
                                  <m:den>
                                    <m:r>
                                      <a:rPr lang="ko-KR" altLang="en-US" b="0" i="1" spc="-9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𝛹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ko-KR" i="1" spc="-9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b="0" i="1" spc="-9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𝑚𝑔𝑙</m:t>
                                    </m:r>
                                    <m:r>
                                      <a:rPr lang="en-US" altLang="ko-KR" b="0" i="1" spc="-9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b="0" i="1" spc="-9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𝑀</m:t>
                                    </m:r>
                                    <m:r>
                                      <a:rPr lang="en-US" altLang="ko-KR" b="0" i="1" spc="-9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ko-KR" b="0" i="1" spc="-9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ko-KR" b="0" i="1" spc="-9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ko-KR" altLang="en-US" b="0" i="1" spc="-9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𝛹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altLang="ko-KR" b="0" i="1" spc="-9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b="0" i="1" spc="-9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altLang="ko-KR" b="0" i="1" spc="-9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 spc="-9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 spc="-9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b="0" i="1" spc="-9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ko-KR" i="1" spc="-9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b="0" i="1" spc="-9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𝐼</m:t>
                                    </m:r>
                                    <m:r>
                                      <a:rPr lang="en-US" altLang="ko-KR" b="0" i="1" spc="-9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ko-KR" b="0" i="1" spc="-9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  <m:sSup>
                                      <m:sSupPr>
                                        <m:ctrlPr>
                                          <a:rPr lang="en-US" altLang="ko-KR" i="1" spc="-9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b="0" i="1" spc="-9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e>
                                      <m:sup>
                                        <m:r>
                                          <a:rPr lang="en-US" altLang="ko-KR" b="0" i="1" spc="-9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l-GR" altLang="ko-KR" b="0" i="1" spc="-9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𝛹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altLang="ko-KR" b="0" i="1" spc="-9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ko-KR" i="1" spc="-9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b="0" i="1" spc="-9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𝑚𝑙</m:t>
                                    </m:r>
                                  </m:num>
                                  <m:den>
                                    <m:r>
                                      <a:rPr lang="el-GR" altLang="ko-KR" b="0" i="1" spc="-9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𝛹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altLang="ko-KR" b="0" i="1" spc="-9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altLang="ko-KR" b="0" i="1" spc="-9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altLang="ko-KR" i="1" spc="-9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𝛹</m:t>
                      </m:r>
                      <m:r>
                        <a:rPr lang="en-US" altLang="ko-KR" b="0" i="1" spc="-9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pc="-9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altLang="ko-KR" b="0" i="1" spc="-9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pc="-9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ko-KR" b="0" i="1" spc="-9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pc="-9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altLang="ko-KR" b="0" i="1" spc="-9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pc="-9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𝑚𝑀</m:t>
                      </m:r>
                      <m:sSup>
                        <m:sSupPr>
                          <m:ctrlPr>
                            <a:rPr lang="en-US" altLang="ko-KR" b="0" i="1" spc="-9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pc="-9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p>
                          <m:r>
                            <a:rPr lang="en-US" altLang="ko-KR" b="0" i="1" spc="-9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ko-KR" i="1" spc="-9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0866F37-6A6A-2D66-AF2E-FDD79C375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394" y="2730923"/>
                <a:ext cx="5861286" cy="257936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4C000970-5CAF-42BC-6E7A-B60FD6B89D01}"/>
              </a:ext>
            </a:extLst>
          </p:cNvPr>
          <p:cNvSpPr txBox="1"/>
          <p:nvPr/>
        </p:nvSpPr>
        <p:spPr>
          <a:xfrm>
            <a:off x="6690089" y="3514253"/>
            <a:ext cx="46145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I: Parameters and Specifications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8108E9D-A584-9F4A-7954-004290A96CB4}"/>
              </a:ext>
            </a:extLst>
          </p:cNvPr>
          <p:cNvSpPr txBox="1"/>
          <p:nvPr/>
        </p:nvSpPr>
        <p:spPr>
          <a:xfrm>
            <a:off x="6588530" y="2826509"/>
            <a:ext cx="46145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1: Schematic of the cart pole system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6AD393-8C66-9E6C-5EBA-F7F9310C6338}"/>
              </a:ext>
            </a:extLst>
          </p:cNvPr>
          <p:cNvSpPr txBox="1"/>
          <p:nvPr/>
        </p:nvSpPr>
        <p:spPr>
          <a:xfrm>
            <a:off x="483173" y="5284168"/>
            <a:ext cx="55885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Eq. 1: Linearized state-space model of the cart–pole dynamics.</a:t>
            </a:r>
          </a:p>
        </p:txBody>
      </p:sp>
      <p:sp>
        <p:nvSpPr>
          <p:cNvPr id="34" name="슬라이드 번호 개체 틀 33">
            <a:extLst>
              <a:ext uri="{FF2B5EF4-FFF2-40B4-BE49-F238E27FC236}">
                <a16:creationId xmlns:a16="http://schemas.microsoft.com/office/drawing/2014/main" id="{A254E4C2-5AD2-C111-FD7C-97D31CEEF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370F9-B2AE-4CC8-8DEC-A6E9A4457EE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6131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2121B-9F9D-2065-12B8-52361F349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403070-3539-48DD-6D16-6E2A32F28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6400"/>
            <a:ext cx="10515600" cy="732155"/>
          </a:xfrm>
        </p:spPr>
        <p:txBody>
          <a:bodyPr>
            <a:normAutofit/>
          </a:bodyPr>
          <a:lstStyle/>
          <a:p>
            <a:r>
              <a:rPr lang="en-US" altLang="ko-K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Modeling</a:t>
            </a:r>
            <a:endParaRPr lang="ko-KR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B85A147-322C-AF53-080A-9445D25D11B1}"/>
              </a:ext>
            </a:extLst>
          </p:cNvPr>
          <p:cNvSpPr/>
          <p:nvPr/>
        </p:nvSpPr>
        <p:spPr>
          <a:xfrm>
            <a:off x="0" y="0"/>
            <a:ext cx="12192000" cy="72000"/>
          </a:xfrm>
          <a:prstGeom prst="rect">
            <a:avLst/>
          </a:prstGeom>
          <a:solidFill>
            <a:srgbClr val="0928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7867D6C-E34D-CCCB-EE2E-7BB18DF5FA48}"/>
              </a:ext>
            </a:extLst>
          </p:cNvPr>
          <p:cNvSpPr/>
          <p:nvPr/>
        </p:nvSpPr>
        <p:spPr>
          <a:xfrm>
            <a:off x="210394" y="657361"/>
            <a:ext cx="7920000" cy="45719"/>
          </a:xfrm>
          <a:prstGeom prst="rect">
            <a:avLst/>
          </a:prstGeom>
          <a:solidFill>
            <a:srgbClr val="6184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04FB1A1-CB85-52B8-7A59-E56198033982}"/>
              </a:ext>
            </a:extLst>
          </p:cNvPr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0928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AF896B1-A981-FB7E-E9DC-BAA064723F72}"/>
                  </a:ext>
                </a:extLst>
              </p:cNvPr>
              <p:cNvSpPr txBox="1"/>
              <p:nvPr/>
            </p:nvSpPr>
            <p:spPr>
              <a:xfrm>
                <a:off x="279012" y="896691"/>
                <a:ext cx="5816988" cy="51135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AutoNum type="arabicPeriod" startAt="2"/>
                </a:pPr>
                <a:r>
                  <a:rPr lang="en-US" altLang="ko-K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MPC Controller Implementation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latin typeface="Cambria Math" panose="02040503050406030204" pitchFamily="18" charset="0"/>
                  </a:rPr>
                  <a:t>Implemented using </a:t>
                </a:r>
                <a:r>
                  <a:rPr lang="en-US" altLang="ko-KR" sz="2000" dirty="0" err="1">
                    <a:latin typeface="Cambria Math" panose="02040503050406030204" pitchFamily="18" charset="0"/>
                  </a:rPr>
                  <a:t>pyMPC</a:t>
                </a:r>
                <a:r>
                  <a:rPr lang="en-US" altLang="ko-KR" sz="2000" dirty="0">
                    <a:latin typeface="Cambria Math" panose="02040503050406030204" pitchFamily="18" charset="0"/>
                  </a:rPr>
                  <a:t> library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latin typeface="Cambria Math" panose="02040503050406030204" pitchFamily="18" charset="0"/>
                  </a:rPr>
                  <a:t>Utilized the OSQP solver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latin typeface="Cambria Math" panose="02040503050406030204" pitchFamily="18" charset="0"/>
                  </a:rPr>
                  <a:t>Prediction horizon set to 20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latin typeface="Cambria Math" panose="02040503050406030204" pitchFamily="18" charset="0"/>
                  </a:rPr>
                  <a:t>Controller parameters tuned manually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MPC + RL Residual Controller Architecture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ko-KR" sz="2000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  <m:r>
                      <a:rPr lang="en-US" altLang="ko-KR" sz="20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ko-KR" sz="2000">
                            <a:latin typeface="Cambria Math" panose="02040503050406030204" pitchFamily="18" charset="0"/>
                          </a:rPr>
                          <m:t>𝑀𝑃𝐶</m:t>
                        </m:r>
                      </m:sub>
                    </m:sSub>
                    <m:r>
                      <a:rPr lang="en-US" altLang="ko-KR" sz="20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ko-KR" sz="2000">
                            <a:latin typeface="Cambria Math" panose="02040503050406030204" pitchFamily="18" charset="0"/>
                          </a:rPr>
                          <m:t>𝑟𝑒𝑠𝑖𝑑𝑢𝑎𝑙</m:t>
                        </m:r>
                      </m:sub>
                    </m:sSub>
                  </m:oMath>
                </a14:m>
                <a:endParaRPr lang="en-US" altLang="ko-KR" sz="2000" dirty="0">
                  <a:latin typeface="Cambria Math" panose="020405030504060302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latin typeface="Cambria Math" panose="02040503050406030204" pitchFamily="18" charset="0"/>
                  </a:rPr>
                  <a:t>Role of residual RL</a:t>
                </a:r>
                <a:r>
                  <a:rPr lang="ko-KR" altLang="en-US" sz="2000" dirty="0">
                    <a:latin typeface="Cambria Math" panose="02040503050406030204" pitchFamily="18" charset="0"/>
                  </a:rPr>
                  <a:t> </a:t>
                </a:r>
                <a:r>
                  <a:rPr lang="en-US" altLang="ko-KR" sz="2000" dirty="0">
                    <a:latin typeface="Cambria Math" panose="02040503050406030204" pitchFamily="18" charset="0"/>
                  </a:rPr>
                  <a:t>agent (expected)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latin typeface="Cambria Math" panose="02040503050406030204" pitchFamily="18" charset="0"/>
                  </a:rPr>
                  <a:t>Compensates for model mismatch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latin typeface="Cambria Math" panose="02040503050406030204" pitchFamily="18" charset="0"/>
                  </a:rPr>
                  <a:t>Improves disturbance rejection and overall control performance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AF896B1-A981-FB7E-E9DC-BAA064723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012" y="896691"/>
                <a:ext cx="5816988" cy="5113579"/>
              </a:xfrm>
              <a:prstGeom prst="rect">
                <a:avLst/>
              </a:prstGeom>
              <a:blipFill>
                <a:blip r:embed="rId3"/>
                <a:stretch>
                  <a:fillRect l="-1153" b="-10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그룹 10">
            <a:extLst>
              <a:ext uri="{FF2B5EF4-FFF2-40B4-BE49-F238E27FC236}">
                <a16:creationId xmlns:a16="http://schemas.microsoft.com/office/drawing/2014/main" id="{9DDDE93A-CED9-92FB-12E4-38A834BDA417}"/>
              </a:ext>
            </a:extLst>
          </p:cNvPr>
          <p:cNvGrpSpPr/>
          <p:nvPr/>
        </p:nvGrpSpPr>
        <p:grpSpPr>
          <a:xfrm>
            <a:off x="6096000" y="896691"/>
            <a:ext cx="5608394" cy="3572930"/>
            <a:chOff x="6063801" y="1029472"/>
            <a:chExt cx="5608394" cy="3572930"/>
          </a:xfrm>
        </p:grpSpPr>
        <p:pic>
          <p:nvPicPr>
            <p:cNvPr id="5" name="그림 4" descr="텍스트, 스크린샷, 도표, 라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D11E357-4665-8BE8-5AAE-9D93A2F7B4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44353" y="1029472"/>
              <a:ext cx="5247290" cy="299240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89BC5C5-8703-5C2D-5471-E1C38CFA866A}"/>
                </a:ext>
              </a:extLst>
            </p:cNvPr>
            <p:cNvSpPr txBox="1"/>
            <p:nvPr/>
          </p:nvSpPr>
          <p:spPr>
            <a:xfrm>
              <a:off x="6063801" y="4017627"/>
              <a:ext cx="5608394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Fig. 2: Illustration of the MPC prediction horizon, showing future reference tracking and the corresponding optimized control inputs.</a:t>
              </a:r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4767C9-B6CB-E0BE-1354-495303276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370F9-B2AE-4CC8-8DEC-A6E9A4457EE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246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E88AE-FFAB-7A58-893F-285C480CB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BA161F-D52C-69A2-68AF-08F4DD5CC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924" y="6400"/>
            <a:ext cx="10515600" cy="732155"/>
          </a:xfrm>
        </p:spPr>
        <p:txBody>
          <a:bodyPr>
            <a:normAutofit/>
          </a:bodyPr>
          <a:lstStyle/>
          <a:p>
            <a:r>
              <a:rPr lang="en-US" altLang="ko-K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Configuration</a:t>
            </a:r>
            <a:endParaRPr lang="ko-KR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D072D0F-3A7D-8D8D-6608-00E72C3274DE}"/>
              </a:ext>
            </a:extLst>
          </p:cNvPr>
          <p:cNvSpPr/>
          <p:nvPr/>
        </p:nvSpPr>
        <p:spPr>
          <a:xfrm>
            <a:off x="0" y="0"/>
            <a:ext cx="12192000" cy="72000"/>
          </a:xfrm>
          <a:prstGeom prst="rect">
            <a:avLst/>
          </a:prstGeom>
          <a:solidFill>
            <a:srgbClr val="0928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C7CDC8A-3729-3BC6-096C-546505D765FD}"/>
              </a:ext>
            </a:extLst>
          </p:cNvPr>
          <p:cNvSpPr/>
          <p:nvPr/>
        </p:nvSpPr>
        <p:spPr>
          <a:xfrm>
            <a:off x="210394" y="657361"/>
            <a:ext cx="7920000" cy="45719"/>
          </a:xfrm>
          <a:prstGeom prst="rect">
            <a:avLst/>
          </a:prstGeom>
          <a:solidFill>
            <a:srgbClr val="6184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B0373D3-3F75-D6A1-8111-2735755308FA}"/>
                  </a:ext>
                </a:extLst>
              </p:cNvPr>
              <p:cNvSpPr txBox="1"/>
              <p:nvPr/>
            </p:nvSpPr>
            <p:spPr>
              <a:xfrm>
                <a:off x="210394" y="838161"/>
                <a:ext cx="5341786" cy="48671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Algorithm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&amp;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hyperparameters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: PPO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n_steps</a:t>
                </a: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2048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Batch size: 34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N_epochs</a:t>
                </a: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10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Gamma: 0.99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Learning rate: 10e-4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Clip_range</a:t>
                </a: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0.2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Total_timesteps</a:t>
                </a: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600,000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Observation, Action space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Observation: </a:t>
                </a:r>
                <a14:m>
                  <m:oMath xmlns:m="http://schemas.openxmlformats.org/officeDocument/2006/math">
                    <m:r>
                      <a:rPr lang="en-US" altLang="ko-KR" sz="160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̇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ko-KR" sz="16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̇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}</m:t>
                    </m:r>
                  </m:oMath>
                </a14:m>
                <a:endPara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Action: scalar residual force [-1, 1] → scaled</a:t>
                </a:r>
              </a:p>
              <a:p>
                <a:pPr>
                  <a:lnSpc>
                    <a:spcPct val="150000"/>
                  </a:lnSpc>
                </a:pPr>
                <a:endParaRPr lang="ko-KR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B0373D3-3F75-D6A1-8111-2735755308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394" y="838161"/>
                <a:ext cx="5341786" cy="4867102"/>
              </a:xfrm>
              <a:prstGeom prst="rect">
                <a:avLst/>
              </a:prstGeom>
              <a:blipFill>
                <a:blip r:embed="rId3"/>
                <a:stretch>
                  <a:fillRect l="-6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직사각형 3">
            <a:extLst>
              <a:ext uri="{FF2B5EF4-FFF2-40B4-BE49-F238E27FC236}">
                <a16:creationId xmlns:a16="http://schemas.microsoft.com/office/drawing/2014/main" id="{5AF7EEA7-5E1A-7A93-FC3B-FB9F19E9D380}"/>
              </a:ext>
            </a:extLst>
          </p:cNvPr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0928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11F7EA8-463F-152D-BC2C-2C6742DAFF57}"/>
                  </a:ext>
                </a:extLst>
              </p:cNvPr>
              <p:cNvSpPr txBox="1"/>
              <p:nvPr/>
            </p:nvSpPr>
            <p:spPr>
              <a:xfrm>
                <a:off x="5552180" y="838161"/>
                <a:ext cx="6096000" cy="19561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Reward function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Alive reward : +1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Angle penalty : </a:t>
                </a:r>
                <a14:m>
                  <m:oMath xmlns:m="http://schemas.openxmlformats.org/officeDocument/2006/math">
                    <m:r>
                      <a:rPr lang="en-US" altLang="ko-KR" sz="16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−5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Position penalty : </a:t>
                </a:r>
                <a14:m>
                  <m:oMath xmlns:m="http://schemas.openxmlformats.org/officeDocument/2006/math">
                    <m:r>
                      <a:rPr lang="en-US" altLang="ko-KR" sz="16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Residual magnitude penalty: </a:t>
                </a:r>
                <a14:m>
                  <m:oMath xmlns:m="http://schemas.openxmlformats.org/officeDocument/2006/math">
                    <m:r>
                      <a:rPr lang="en-US" altLang="ko-KR" sz="16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0.001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Sup>
                      <m:sSub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𝑟𝑒𝑠𝑖𝑑𝑢𝑎𝑙</m:t>
                        </m:r>
                      </m:sub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11F7EA8-463F-152D-BC2C-2C6742DAFF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2180" y="838161"/>
                <a:ext cx="6096000" cy="1956113"/>
              </a:xfrm>
              <a:prstGeom prst="rect">
                <a:avLst/>
              </a:prstGeom>
              <a:blipFill>
                <a:blip r:embed="rId4"/>
                <a:stretch>
                  <a:fillRect l="-600" b="-62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5B450B0-7F40-C82F-F872-A06F5019E753}"/>
                  </a:ext>
                </a:extLst>
              </p:cNvPr>
              <p:cNvSpPr txBox="1"/>
              <p:nvPr/>
            </p:nvSpPr>
            <p:spPr>
              <a:xfrm>
                <a:off x="5552180" y="2772068"/>
                <a:ext cx="6096000" cy="38454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Domain Randomization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Alive reward : +1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Pole mass randomization</a:t>
                </a:r>
              </a:p>
              <a:p>
                <a:pPr marL="12001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Pole mass randomized 0.05 kg ~ 1.0 kg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 push</a:t>
                </a:r>
              </a:p>
              <a:p>
                <a:pPr marL="12001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 push time: 0.3 ~ 1.2 sec</a:t>
                </a:r>
              </a:p>
              <a:p>
                <a:pPr marL="12001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 push size</a:t>
                </a:r>
              </a:p>
              <a:p>
                <a:pPr marL="1657350" lvl="3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-2 ~ 2 rad/s</a:t>
                </a:r>
              </a:p>
              <a:p>
                <a:pPr marL="1657350" lvl="3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ko-KR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-0.8 ~ 0.8 m/s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Randomly pushed 70% of the time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5B450B0-7F40-C82F-F872-A06F5019E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2180" y="2772068"/>
                <a:ext cx="6096000" cy="3845476"/>
              </a:xfrm>
              <a:prstGeom prst="rect">
                <a:avLst/>
              </a:prstGeom>
              <a:blipFill>
                <a:blip r:embed="rId5"/>
                <a:stretch>
                  <a:fillRect l="-6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CD50717-6581-5F72-804E-BBF6A270D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370F9-B2AE-4CC8-8DEC-A6E9A4457EE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2366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84966-93A2-32F6-7C2B-73B96ED90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6676F-4E8D-CF78-FEA5-6FEA0D679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924" y="6400"/>
            <a:ext cx="10515600" cy="732155"/>
          </a:xfrm>
        </p:spPr>
        <p:txBody>
          <a:bodyPr>
            <a:normAutofit/>
          </a:bodyPr>
          <a:lstStyle/>
          <a:p>
            <a:r>
              <a:rPr lang="en-US" altLang="ko-K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 Results</a:t>
            </a:r>
            <a:endParaRPr lang="ko-KR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920BB51-35BD-A657-189E-209A583CD44B}"/>
              </a:ext>
            </a:extLst>
          </p:cNvPr>
          <p:cNvSpPr/>
          <p:nvPr/>
        </p:nvSpPr>
        <p:spPr>
          <a:xfrm>
            <a:off x="0" y="0"/>
            <a:ext cx="12192000" cy="72000"/>
          </a:xfrm>
          <a:prstGeom prst="rect">
            <a:avLst/>
          </a:prstGeom>
          <a:solidFill>
            <a:srgbClr val="0928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4035CB3-DD95-E2CB-88FF-5FC49BA40B68}"/>
              </a:ext>
            </a:extLst>
          </p:cNvPr>
          <p:cNvSpPr/>
          <p:nvPr/>
        </p:nvSpPr>
        <p:spPr>
          <a:xfrm>
            <a:off x="210394" y="657361"/>
            <a:ext cx="7920000" cy="45719"/>
          </a:xfrm>
          <a:prstGeom prst="rect">
            <a:avLst/>
          </a:prstGeom>
          <a:solidFill>
            <a:srgbClr val="6184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B00F995-952C-ED90-5CA6-7BD46110DC62}"/>
              </a:ext>
            </a:extLst>
          </p:cNvPr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0928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492717-FAB3-9A18-8D65-DFA07CA96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370F9-B2AE-4CC8-8DEC-A6E9A4457EE0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15" name="그림 14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AC23F25-DC63-6238-0DCC-F9801E3D67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1491" y="1355189"/>
            <a:ext cx="4019183" cy="2520000"/>
          </a:xfrm>
          <a:prstGeom prst="rect">
            <a:avLst/>
          </a:prstGeom>
        </p:spPr>
      </p:pic>
      <p:pic>
        <p:nvPicPr>
          <p:cNvPr id="17" name="그림 16" descr="텍스트, 그래프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A9DF7A-01C2-C8BC-FCE9-B251C77629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0394" y="1355189"/>
            <a:ext cx="3955096" cy="2520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9FAA982-4AAF-1A39-DA9C-965D5EF899D6}"/>
              </a:ext>
            </a:extLst>
          </p:cNvPr>
          <p:cNvSpPr txBox="1"/>
          <p:nvPr/>
        </p:nvSpPr>
        <p:spPr>
          <a:xfrm>
            <a:off x="210394" y="838161"/>
            <a:ext cx="5341786" cy="417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Results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834D2D-3060-47FB-7EA5-E705DF8E0B1D}"/>
              </a:ext>
            </a:extLst>
          </p:cNvPr>
          <p:cNvSpPr txBox="1"/>
          <p:nvPr/>
        </p:nvSpPr>
        <p:spPr>
          <a:xfrm>
            <a:off x="425852" y="4285694"/>
            <a:ext cx="1101367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3: Training results of the MPC+RL agent using PPO. (a) Mean episode length. (b) Mean episode reward. (c) Training Loss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2C4B3E-6F74-E10E-E52A-35896F782069}"/>
              </a:ext>
            </a:extLst>
          </p:cNvPr>
          <p:cNvSpPr txBox="1"/>
          <p:nvPr/>
        </p:nvSpPr>
        <p:spPr>
          <a:xfrm>
            <a:off x="1724157" y="3875189"/>
            <a:ext cx="7198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pic>
        <p:nvPicPr>
          <p:cNvPr id="22" name="그림 21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AB4B048-7C93-0652-8329-246E447ABF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10" y="1355189"/>
            <a:ext cx="3955096" cy="25200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7269106-C554-C41E-FE32-BFCD0A631AFF}"/>
              </a:ext>
            </a:extLst>
          </p:cNvPr>
          <p:cNvSpPr txBox="1"/>
          <p:nvPr/>
        </p:nvSpPr>
        <p:spPr>
          <a:xfrm>
            <a:off x="5953257" y="3875189"/>
            <a:ext cx="7198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C96E02-5CDF-67AA-6733-CF68DE396B3E}"/>
              </a:ext>
            </a:extLst>
          </p:cNvPr>
          <p:cNvSpPr txBox="1"/>
          <p:nvPr/>
        </p:nvSpPr>
        <p:spPr>
          <a:xfrm>
            <a:off x="9918008" y="3875189"/>
            <a:ext cx="7198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028829-7F4D-A326-6F65-0ABD13B3A382}"/>
              </a:ext>
            </a:extLst>
          </p:cNvPr>
          <p:cNvSpPr txBox="1"/>
          <p:nvPr/>
        </p:nvSpPr>
        <p:spPr>
          <a:xfrm>
            <a:off x="425852" y="5034753"/>
            <a:ext cx="1101367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Hardware &amp; Software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OS: Windows 11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CUDA 13.0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2.9.1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Graphics card: RTX 5070 TI</a:t>
            </a:r>
          </a:p>
        </p:txBody>
      </p:sp>
    </p:spTree>
    <p:extLst>
      <p:ext uri="{BB962C8B-B14F-4D97-AF65-F5344CB8AC3E}">
        <p14:creationId xmlns:p14="http://schemas.microsoft.com/office/powerpoint/2010/main" val="1575372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39D0E-5E20-9817-AB07-59C59B43B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205F7B-1690-8585-F60F-C92911C96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924" y="6400"/>
            <a:ext cx="10515600" cy="732155"/>
          </a:xfrm>
        </p:spPr>
        <p:txBody>
          <a:bodyPr>
            <a:normAutofit/>
          </a:bodyPr>
          <a:lstStyle/>
          <a:p>
            <a:r>
              <a:rPr lang="en-US" altLang="ko-K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 Results</a:t>
            </a:r>
            <a:endParaRPr lang="ko-KR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4534F7-BE2B-0AD8-D932-F5B77B037F64}"/>
              </a:ext>
            </a:extLst>
          </p:cNvPr>
          <p:cNvSpPr/>
          <p:nvPr/>
        </p:nvSpPr>
        <p:spPr>
          <a:xfrm>
            <a:off x="0" y="0"/>
            <a:ext cx="12192000" cy="72000"/>
          </a:xfrm>
          <a:prstGeom prst="rect">
            <a:avLst/>
          </a:prstGeom>
          <a:solidFill>
            <a:srgbClr val="0928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4F95DC6-785C-E48F-EFA9-C8CB94CAC6DD}"/>
              </a:ext>
            </a:extLst>
          </p:cNvPr>
          <p:cNvSpPr/>
          <p:nvPr/>
        </p:nvSpPr>
        <p:spPr>
          <a:xfrm>
            <a:off x="210394" y="657361"/>
            <a:ext cx="7920000" cy="45719"/>
          </a:xfrm>
          <a:prstGeom prst="rect">
            <a:avLst/>
          </a:prstGeom>
          <a:solidFill>
            <a:srgbClr val="6184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4B306A-A989-E93F-A8F7-A8F713146CFB}"/>
              </a:ext>
            </a:extLst>
          </p:cNvPr>
          <p:cNvSpPr txBox="1"/>
          <p:nvPr/>
        </p:nvSpPr>
        <p:spPr>
          <a:xfrm>
            <a:off x="210394" y="838161"/>
            <a:ext cx="5341786" cy="416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A: Pole Mass Mismatch 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0F606D8-C261-C85B-DA9D-3F1254BB5351}"/>
              </a:ext>
            </a:extLst>
          </p:cNvPr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0928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B8013D-9E47-8D03-2591-A3EB675441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394" y="1218148"/>
            <a:ext cx="5184000" cy="2592000"/>
          </a:xfrm>
          <a:prstGeom prst="rect">
            <a:avLst/>
          </a:prstGeom>
        </p:spPr>
      </p:pic>
      <p:pic>
        <p:nvPicPr>
          <p:cNvPr id="18" name="그림 17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580A7F-2280-5CD5-316A-F565C89FE4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41" y="1218148"/>
            <a:ext cx="5184000" cy="2592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914BE31-B69F-4CBE-5A80-4E07A7198FA3}"/>
                  </a:ext>
                </a:extLst>
              </p:cNvPr>
              <p:cNvSpPr txBox="1"/>
              <p:nvPr/>
            </p:nvSpPr>
            <p:spPr>
              <a:xfrm>
                <a:off x="348258" y="4708720"/>
                <a:ext cx="5341786" cy="1525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Pole mass mismatch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Nominal pole mass : 0.1 kg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Mass term used in MPC: [0.05, 0.1, 0.2, 1.0]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Resets at a random pole angle and position </a:t>
                </a:r>
                <a14:m>
                  <m:oMath xmlns:m="http://schemas.openxmlformats.org/officeDocument/2006/math">
                    <m:r>
                      <a:rPr lang="en-US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0.05</m:t>
                    </m:r>
                  </m:oMath>
                </a14:m>
                <a:endPara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914BE31-B69F-4CBE-5A80-4E07A7198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258" y="4708720"/>
                <a:ext cx="5341786" cy="1525418"/>
              </a:xfrm>
              <a:prstGeom prst="rect">
                <a:avLst/>
              </a:prstGeom>
              <a:blipFill>
                <a:blip r:embed="rId5"/>
                <a:stretch>
                  <a:fillRect l="-571" b="-398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슬라이드 번호 개체 틀 21">
            <a:extLst>
              <a:ext uri="{FF2B5EF4-FFF2-40B4-BE49-F238E27FC236}">
                <a16:creationId xmlns:a16="http://schemas.microsoft.com/office/drawing/2014/main" id="{D08B70A5-894F-2CE9-0643-105DD9B87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370F9-B2AE-4CC8-8DEC-A6E9A4457EE0}" type="slidenum">
              <a:rPr lang="ko-KR" altLang="en-US" smtClean="0"/>
              <a:t>8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6F0D0A8-B626-8540-41B0-DE51C843485C}"/>
                  </a:ext>
                </a:extLst>
              </p:cNvPr>
              <p:cNvSpPr txBox="1"/>
              <p:nvPr/>
            </p:nvSpPr>
            <p:spPr>
              <a:xfrm>
                <a:off x="921091" y="3846900"/>
                <a:ext cx="3920391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Fig. 4: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trajectories for different masses in Experiment A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6F0D0A8-B626-8540-41B0-DE51C84348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91" y="3846900"/>
                <a:ext cx="3920391" cy="584775"/>
              </a:xfrm>
              <a:prstGeom prst="rect">
                <a:avLst/>
              </a:prstGeom>
              <a:blipFill>
                <a:blip r:embed="rId6"/>
                <a:stretch>
                  <a:fillRect l="-778" t="-3125" b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A58014-1060-C09A-8C3F-5EF9AB8886F1}"/>
                  </a:ext>
                </a:extLst>
              </p:cNvPr>
              <p:cNvSpPr txBox="1"/>
              <p:nvPr/>
            </p:nvSpPr>
            <p:spPr>
              <a:xfrm>
                <a:off x="6096000" y="3846900"/>
                <a:ext cx="3920391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Fig. 5: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position for different masses in Experiment A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A58014-1060-C09A-8C3F-5EF9AB8886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846900"/>
                <a:ext cx="3920391" cy="584775"/>
              </a:xfrm>
              <a:prstGeom prst="rect">
                <a:avLst/>
              </a:prstGeom>
              <a:blipFill>
                <a:blip r:embed="rId7"/>
                <a:stretch>
                  <a:fillRect l="-778" t="-3125" b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8A85E53-725F-0EE4-B1C4-71789BA861A4}"/>
                  </a:ext>
                </a:extLst>
              </p:cNvPr>
              <p:cNvSpPr txBox="1"/>
              <p:nvPr/>
            </p:nvSpPr>
            <p:spPr>
              <a:xfrm>
                <a:off x="6096000" y="4708720"/>
                <a:ext cx="5341786" cy="1894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Results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Both MPC and MPC+RL performs well for small moderate mass mismatches (0.05 ~ 0.2 kg)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pole mass is 1.0 kg,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starts to diverge </a:t>
                </a:r>
                <a:b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(see Fig. 3 - MPC mass=1.0)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8A85E53-725F-0EE4-B1C4-71789BA86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708720"/>
                <a:ext cx="5341786" cy="1894749"/>
              </a:xfrm>
              <a:prstGeom prst="rect">
                <a:avLst/>
              </a:prstGeom>
              <a:blipFill>
                <a:blip r:embed="rId8"/>
                <a:stretch>
                  <a:fillRect l="-571" b="-32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9162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82479-D8AC-8F8F-8371-36F902D9A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E031AE-E4E6-6E7B-7D4B-8D54D4DAB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924" y="6400"/>
            <a:ext cx="10515600" cy="732155"/>
          </a:xfrm>
        </p:spPr>
        <p:txBody>
          <a:bodyPr>
            <a:normAutofit/>
          </a:bodyPr>
          <a:lstStyle/>
          <a:p>
            <a:r>
              <a:rPr lang="en-US" altLang="ko-K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 Results</a:t>
            </a:r>
            <a:endParaRPr lang="ko-KR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99B676A-C663-FE8E-D2C6-99D3D1E3992B}"/>
              </a:ext>
            </a:extLst>
          </p:cNvPr>
          <p:cNvSpPr/>
          <p:nvPr/>
        </p:nvSpPr>
        <p:spPr>
          <a:xfrm>
            <a:off x="0" y="0"/>
            <a:ext cx="12192000" cy="72000"/>
          </a:xfrm>
          <a:prstGeom prst="rect">
            <a:avLst/>
          </a:prstGeom>
          <a:solidFill>
            <a:srgbClr val="0928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0138810-EC07-2D04-C6BE-FD591C893E10}"/>
              </a:ext>
            </a:extLst>
          </p:cNvPr>
          <p:cNvSpPr/>
          <p:nvPr/>
        </p:nvSpPr>
        <p:spPr>
          <a:xfrm>
            <a:off x="210394" y="657361"/>
            <a:ext cx="7920000" cy="45719"/>
          </a:xfrm>
          <a:prstGeom prst="rect">
            <a:avLst/>
          </a:prstGeom>
          <a:solidFill>
            <a:srgbClr val="6184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B6C365-52AD-EA46-EDB1-C527CAF49C07}"/>
              </a:ext>
            </a:extLst>
          </p:cNvPr>
          <p:cNvSpPr txBox="1"/>
          <p:nvPr/>
        </p:nvSpPr>
        <p:spPr>
          <a:xfrm>
            <a:off x="210394" y="838161"/>
            <a:ext cx="5341786" cy="416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B: Push disturbance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831B951-EB15-6F5A-B141-2E76C369B9F6}"/>
              </a:ext>
            </a:extLst>
          </p:cNvPr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0928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 descr="라인, 그래프, 도표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BB3EEB-4FF0-7009-E725-42053A3549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724" y="1254942"/>
            <a:ext cx="5184001" cy="2592000"/>
          </a:xfrm>
          <a:prstGeom prst="rect">
            <a:avLst/>
          </a:prstGeom>
        </p:spPr>
      </p:pic>
      <p:pic>
        <p:nvPicPr>
          <p:cNvPr id="9" name="그림 8" descr="라인, 텍스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17BEE7E-00A7-0199-B29B-E0C4F8D001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287" y="1254942"/>
            <a:ext cx="5184001" cy="2592000"/>
          </a:xfrm>
          <a:prstGeom prst="rect">
            <a:avLst/>
          </a:prstGeom>
        </p:spPr>
      </p:pic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184F3838-4C99-1DFD-C27C-FAFE926A8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370F9-B2AE-4CC8-8DEC-A6E9A4457EE0}" type="slidenum">
              <a:rPr lang="ko-KR" altLang="en-US" smtClean="0"/>
              <a:t>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E766FB1-E27B-BA1B-C2B6-D084F6B35281}"/>
                  </a:ext>
                </a:extLst>
              </p:cNvPr>
              <p:cNvSpPr txBox="1"/>
              <p:nvPr/>
            </p:nvSpPr>
            <p:spPr>
              <a:xfrm>
                <a:off x="348258" y="4708720"/>
                <a:ext cx="5341786" cy="15705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Push disturbance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Nominal pole mass : 0.1 kg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Push :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0.5 m/s,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=0.5 rad/s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Resets at a random pole angle and position </a:t>
                </a:r>
                <a14:m>
                  <m:oMath xmlns:m="http://schemas.openxmlformats.org/officeDocument/2006/math">
                    <m:r>
                      <a:rPr lang="en-US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0.05</m:t>
                    </m:r>
                  </m:oMath>
                </a14:m>
                <a:endPara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E766FB1-E27B-BA1B-C2B6-D084F6B352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258" y="4708720"/>
                <a:ext cx="5341786" cy="1570558"/>
              </a:xfrm>
              <a:prstGeom prst="rect">
                <a:avLst/>
              </a:prstGeom>
              <a:blipFill>
                <a:blip r:embed="rId5"/>
                <a:stretch>
                  <a:fillRect l="-571" b="-23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B9D99C6B-ECEF-516F-876C-F59F23F2120A}"/>
              </a:ext>
            </a:extLst>
          </p:cNvPr>
          <p:cNvSpPr txBox="1"/>
          <p:nvPr/>
        </p:nvSpPr>
        <p:spPr>
          <a:xfrm>
            <a:off x="6096000" y="4708720"/>
            <a:ext cx="5341786" cy="1894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5 and Fig. 6 show that the MPC+RL model has a smaller overshoot compared to the MPC only model.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MPC+RL model shows less oscillatory behavior under push disturbance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A8D8AC0-97C3-34CE-28EE-523C5B16486C}"/>
                  </a:ext>
                </a:extLst>
              </p:cNvPr>
              <p:cNvSpPr txBox="1"/>
              <p:nvPr/>
            </p:nvSpPr>
            <p:spPr>
              <a:xfrm>
                <a:off x="921091" y="3846900"/>
                <a:ext cx="3920391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Fig. 6: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trajectory under push disturbance at nominal mass (m=0.1 kg)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A8D8AC0-97C3-34CE-28EE-523C5B164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91" y="3846900"/>
                <a:ext cx="3920391" cy="584775"/>
              </a:xfrm>
              <a:prstGeom prst="rect">
                <a:avLst/>
              </a:prstGeom>
              <a:blipFill>
                <a:blip r:embed="rId6"/>
                <a:stretch>
                  <a:fillRect l="-778" t="-3125" r="-622" b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DFF73F5-48D8-9676-ED8C-E052304344EE}"/>
                  </a:ext>
                </a:extLst>
              </p:cNvPr>
              <p:cNvSpPr txBox="1"/>
              <p:nvPr/>
            </p:nvSpPr>
            <p:spPr>
              <a:xfrm>
                <a:off x="6096000" y="3846900"/>
                <a:ext cx="3920391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Fig. 7: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position trajectory under push disturbance at nominal mass (m=0.1 kg)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DFF73F5-48D8-9676-ED8C-E052304344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846900"/>
                <a:ext cx="3920391" cy="584775"/>
              </a:xfrm>
              <a:prstGeom prst="rect">
                <a:avLst/>
              </a:prstGeom>
              <a:blipFill>
                <a:blip r:embed="rId7"/>
                <a:stretch>
                  <a:fillRect l="-778" t="-3125" b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601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777E7-F893-4476-F0CF-78D6C33C6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93B1E8-AE13-6579-3A96-001D28450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924" y="6400"/>
            <a:ext cx="10515600" cy="732155"/>
          </a:xfrm>
        </p:spPr>
        <p:txBody>
          <a:bodyPr>
            <a:normAutofit/>
          </a:bodyPr>
          <a:lstStyle/>
          <a:p>
            <a:r>
              <a:rPr lang="en-US" altLang="ko-K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 Results</a:t>
            </a:r>
            <a:endParaRPr lang="ko-KR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D23032F-E82E-3168-6BC0-16CE2649E7A7}"/>
              </a:ext>
            </a:extLst>
          </p:cNvPr>
          <p:cNvSpPr/>
          <p:nvPr/>
        </p:nvSpPr>
        <p:spPr>
          <a:xfrm>
            <a:off x="0" y="0"/>
            <a:ext cx="12192000" cy="72000"/>
          </a:xfrm>
          <a:prstGeom prst="rect">
            <a:avLst/>
          </a:prstGeom>
          <a:solidFill>
            <a:srgbClr val="0928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4D5A462-1B53-E06B-1AF7-4E102D97AA81}"/>
              </a:ext>
            </a:extLst>
          </p:cNvPr>
          <p:cNvSpPr/>
          <p:nvPr/>
        </p:nvSpPr>
        <p:spPr>
          <a:xfrm>
            <a:off x="210394" y="657361"/>
            <a:ext cx="7920000" cy="45719"/>
          </a:xfrm>
          <a:prstGeom prst="rect">
            <a:avLst/>
          </a:prstGeom>
          <a:solidFill>
            <a:srgbClr val="6184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F469DA-C352-FAEB-4C33-5B38307A48DF}"/>
              </a:ext>
            </a:extLst>
          </p:cNvPr>
          <p:cNvSpPr txBox="1"/>
          <p:nvPr/>
        </p:nvSpPr>
        <p:spPr>
          <a:xfrm>
            <a:off x="210394" y="838161"/>
            <a:ext cx="5341786" cy="416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C: Mass mismatch + Push disturbance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0196888-D219-1E60-9146-9F013FEAE0BA}"/>
              </a:ext>
            </a:extLst>
          </p:cNvPr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0928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 descr="텍스트, 그래프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A15A39-CC1F-F344-D461-FE6BBC455D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724" y="1288441"/>
            <a:ext cx="5184001" cy="2592000"/>
          </a:xfrm>
          <a:prstGeom prst="rect">
            <a:avLst/>
          </a:prstGeom>
        </p:spPr>
      </p:pic>
      <p:pic>
        <p:nvPicPr>
          <p:cNvPr id="10" name="그림 9" descr="텍스트, 도표, 그래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54B23E-38D4-1EC1-0E12-864E2D1FC3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23" y="1288441"/>
            <a:ext cx="5184001" cy="2592000"/>
          </a:xfrm>
          <a:prstGeom prst="rect">
            <a:avLst/>
          </a:prstGeom>
        </p:spPr>
      </p:pic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951B2D77-7233-D293-33CE-88ADD2C6F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370F9-B2AE-4CC8-8DEC-A6E9A4457EE0}" type="slidenum">
              <a:rPr lang="ko-KR" altLang="en-US" smtClean="0"/>
              <a:t>10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56DECC3-C570-A320-3564-5742D134E00F}"/>
                  </a:ext>
                </a:extLst>
              </p:cNvPr>
              <p:cNvSpPr txBox="1"/>
              <p:nvPr/>
            </p:nvSpPr>
            <p:spPr>
              <a:xfrm>
                <a:off x="348258" y="4708720"/>
                <a:ext cx="5341786" cy="1911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Mass mismatch + Push disturbance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Nominal pole mass : 0.1 kg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Mass term used in MPC: [0.05, 0.1, 0.2, 1.0]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Push :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0.5 m/s,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=0.5 rad/s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Resets at a random pole angle and position </a:t>
                </a:r>
                <a14:m>
                  <m:oMath xmlns:m="http://schemas.openxmlformats.org/officeDocument/2006/math">
                    <m:r>
                      <a:rPr lang="en-US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0.05</m:t>
                    </m:r>
                  </m:oMath>
                </a14:m>
                <a:endPara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56DECC3-C570-A320-3564-5742D134E0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258" y="4708720"/>
                <a:ext cx="5341786" cy="1911998"/>
              </a:xfrm>
              <a:prstGeom prst="rect">
                <a:avLst/>
              </a:prstGeom>
              <a:blipFill>
                <a:blip r:embed="rId5"/>
                <a:stretch>
                  <a:fillRect l="-571" b="-31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76796433-5DEA-D94B-0E77-EC3FE16D0419}"/>
              </a:ext>
            </a:extLst>
          </p:cNvPr>
          <p:cNvSpPr txBox="1"/>
          <p:nvPr/>
        </p:nvSpPr>
        <p:spPr>
          <a:xfrm>
            <a:off x="6096000" y="4708720"/>
            <a:ext cx="5747742" cy="1894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7 and Fig. 8 show that the MPC+RL model generally has a smaller overshoot compared to the MPC only model.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MPC mass=1.0 diverges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MPC+RL mass=1.0 converges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B205E0E-4521-A0CC-6989-76C3AD2D6308}"/>
                  </a:ext>
                </a:extLst>
              </p:cNvPr>
              <p:cNvSpPr txBox="1"/>
              <p:nvPr/>
            </p:nvSpPr>
            <p:spPr>
              <a:xfrm>
                <a:off x="921091" y="3846900"/>
                <a:ext cx="3920391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Fig. 8: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trajectory under mass mismatch and push disturbance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B205E0E-4521-A0CC-6989-76C3AD2D6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91" y="3846900"/>
                <a:ext cx="3920391" cy="584775"/>
              </a:xfrm>
              <a:prstGeom prst="rect">
                <a:avLst/>
              </a:prstGeom>
              <a:blipFill>
                <a:blip r:embed="rId6"/>
                <a:stretch>
                  <a:fillRect l="-778" t="-3125" r="-1244" b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539524-0044-795D-2C58-163B1914F42D}"/>
                  </a:ext>
                </a:extLst>
              </p:cNvPr>
              <p:cNvSpPr txBox="1"/>
              <p:nvPr/>
            </p:nvSpPr>
            <p:spPr>
              <a:xfrm>
                <a:off x="6096000" y="3846900"/>
                <a:ext cx="3920391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Fig. 9: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position trajectory under mass mismatch and push disturbance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539524-0044-795D-2C58-163B1914F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846900"/>
                <a:ext cx="3920391" cy="584775"/>
              </a:xfrm>
              <a:prstGeom prst="rect">
                <a:avLst/>
              </a:prstGeom>
              <a:blipFill>
                <a:blip r:embed="rId7"/>
                <a:stretch>
                  <a:fillRect l="-778" t="-3125" b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타원 17">
            <a:extLst>
              <a:ext uri="{FF2B5EF4-FFF2-40B4-BE49-F238E27FC236}">
                <a16:creationId xmlns:a16="http://schemas.microsoft.com/office/drawing/2014/main" id="{AFF1D9FE-86A4-8C27-72F8-B9A42B0706D5}"/>
              </a:ext>
            </a:extLst>
          </p:cNvPr>
          <p:cNvSpPr/>
          <p:nvPr/>
        </p:nvSpPr>
        <p:spPr>
          <a:xfrm>
            <a:off x="2162037" y="3295666"/>
            <a:ext cx="487017" cy="341815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C27C9E03-C9CF-589A-43DF-BD03CFFF92BD}"/>
              </a:ext>
            </a:extLst>
          </p:cNvPr>
          <p:cNvSpPr/>
          <p:nvPr/>
        </p:nvSpPr>
        <p:spPr>
          <a:xfrm>
            <a:off x="7381737" y="1573042"/>
            <a:ext cx="487017" cy="341815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863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7F39E-C52E-0ED0-20CA-055F93ED9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A21B47-079D-4860-8D8B-E8307CCB5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924" y="6400"/>
            <a:ext cx="10515600" cy="732155"/>
          </a:xfrm>
        </p:spPr>
        <p:txBody>
          <a:bodyPr>
            <a:normAutofit/>
          </a:bodyPr>
          <a:lstStyle/>
          <a:p>
            <a:r>
              <a:rPr lang="en-US" altLang="ko-K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SAC</a:t>
            </a:r>
            <a:endParaRPr lang="ko-KR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8CD3D91-A955-006A-F8A7-F4A1AEEC8816}"/>
              </a:ext>
            </a:extLst>
          </p:cNvPr>
          <p:cNvSpPr/>
          <p:nvPr/>
        </p:nvSpPr>
        <p:spPr>
          <a:xfrm>
            <a:off x="0" y="0"/>
            <a:ext cx="12192000" cy="72000"/>
          </a:xfrm>
          <a:prstGeom prst="rect">
            <a:avLst/>
          </a:prstGeom>
          <a:solidFill>
            <a:srgbClr val="0928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8D29E75-1F5B-CDD8-25E9-AF4B3E8EEA04}"/>
              </a:ext>
            </a:extLst>
          </p:cNvPr>
          <p:cNvSpPr/>
          <p:nvPr/>
        </p:nvSpPr>
        <p:spPr>
          <a:xfrm>
            <a:off x="210394" y="657361"/>
            <a:ext cx="7920000" cy="45719"/>
          </a:xfrm>
          <a:prstGeom prst="rect">
            <a:avLst/>
          </a:prstGeom>
          <a:solidFill>
            <a:srgbClr val="6184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47FFA0-2DFE-F4D5-EB6F-379FC9395DC1}"/>
              </a:ext>
            </a:extLst>
          </p:cNvPr>
          <p:cNvSpPr txBox="1"/>
          <p:nvPr/>
        </p:nvSpPr>
        <p:spPr>
          <a:xfrm>
            <a:off x="210394" y="838161"/>
            <a:ext cx="5341786" cy="416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Comparing MPC+RL policy, trained using PPO VS SAC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236BFB8-7B16-9D00-D83D-72A23B7E7FC2}"/>
              </a:ext>
            </a:extLst>
          </p:cNvPr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0928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D630B0B-2FBB-9AFB-C1D6-571208FE7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370F9-B2AE-4CC8-8DEC-A6E9A4457EE0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8" name="그림 7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C8998F-1A1E-67A4-94B1-DA4E211401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317" y="1354548"/>
            <a:ext cx="5184001" cy="2592000"/>
          </a:xfrm>
          <a:prstGeom prst="rect">
            <a:avLst/>
          </a:prstGeom>
        </p:spPr>
      </p:pic>
      <p:pic>
        <p:nvPicPr>
          <p:cNvPr id="10" name="그림 9" descr="그래프, 라인, 텍스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49EBF2B-0712-1945-06F6-F3F84611E0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67" y="1354548"/>
            <a:ext cx="5184001" cy="2592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07B2C04-DB12-5618-57AF-4360CA4D4FDE}"/>
                  </a:ext>
                </a:extLst>
              </p:cNvPr>
              <p:cNvSpPr txBox="1"/>
              <p:nvPr/>
            </p:nvSpPr>
            <p:spPr>
              <a:xfrm>
                <a:off x="1162893" y="3846900"/>
                <a:ext cx="438928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Fig. 10: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trajectory under mass mismatch and push disturbance comparing PPO and SAC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07B2C04-DB12-5618-57AF-4360CA4D4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893" y="3846900"/>
                <a:ext cx="4389288" cy="584775"/>
              </a:xfrm>
              <a:prstGeom prst="rect">
                <a:avLst/>
              </a:prstGeom>
              <a:blipFill>
                <a:blip r:embed="rId5"/>
                <a:stretch>
                  <a:fillRect l="-833" t="-3125" b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1204095-800E-43E0-95FF-A9C7BAFAAA9C}"/>
                  </a:ext>
                </a:extLst>
              </p:cNvPr>
              <p:cNvSpPr txBox="1"/>
              <p:nvPr/>
            </p:nvSpPr>
            <p:spPr>
              <a:xfrm>
                <a:off x="6636534" y="3807970"/>
                <a:ext cx="449222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Fig. 11: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position trajectory under mass mismatch and push disturbance comparing PPO and SAC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1204095-800E-43E0-95FF-A9C7BAFAAA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6534" y="3807970"/>
                <a:ext cx="4492229" cy="584775"/>
              </a:xfrm>
              <a:prstGeom prst="rect">
                <a:avLst/>
              </a:prstGeom>
              <a:blipFill>
                <a:blip r:embed="rId6"/>
                <a:stretch>
                  <a:fillRect l="-814" t="-3125" b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58F715FC-47D4-7B65-B743-07E76B480F9A}"/>
              </a:ext>
            </a:extLst>
          </p:cNvPr>
          <p:cNvSpPr txBox="1"/>
          <p:nvPr/>
        </p:nvSpPr>
        <p:spPr>
          <a:xfrm>
            <a:off x="6096000" y="4708720"/>
            <a:ext cx="5747742" cy="1525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can be seen in Fig. 10 and Fig. 11, PPO and SAC performed similarly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some cases, the response time is slightly better for SAC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49B947-A88E-E960-465B-CFACC499E4DB}"/>
              </a:ext>
            </a:extLst>
          </p:cNvPr>
          <p:cNvSpPr txBox="1"/>
          <p:nvPr/>
        </p:nvSpPr>
        <p:spPr>
          <a:xfrm>
            <a:off x="348258" y="4708720"/>
            <a:ext cx="5341786" cy="1894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PPO VS SAC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timesteps</a:t>
            </a:r>
            <a:b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PPO: 600k, SAC: 100k</a:t>
            </a:r>
            <a:b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keep the total training duration comparable between algorithms, SAC was run for fewer steps.</a:t>
            </a:r>
          </a:p>
        </p:txBody>
      </p:sp>
    </p:spTree>
    <p:extLst>
      <p:ext uri="{BB962C8B-B14F-4D97-AF65-F5344CB8AC3E}">
        <p14:creationId xmlns:p14="http://schemas.microsoft.com/office/powerpoint/2010/main" val="2625183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1DC39-1282-C990-4BC3-DA8DA5CC3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1BFCA8-12FD-6928-952B-DC043B578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924" y="6400"/>
            <a:ext cx="10515600" cy="732155"/>
          </a:xfrm>
        </p:spPr>
        <p:txBody>
          <a:bodyPr>
            <a:normAutofit/>
          </a:bodyPr>
          <a:lstStyle/>
          <a:p>
            <a:r>
              <a:rPr lang="en-US" altLang="ko-K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Conclusion</a:t>
            </a:r>
            <a:endParaRPr lang="ko-KR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4F62D8B-46EE-30F1-242F-A4A508A4DA78}"/>
              </a:ext>
            </a:extLst>
          </p:cNvPr>
          <p:cNvSpPr/>
          <p:nvPr/>
        </p:nvSpPr>
        <p:spPr>
          <a:xfrm>
            <a:off x="0" y="0"/>
            <a:ext cx="12192000" cy="72000"/>
          </a:xfrm>
          <a:prstGeom prst="rect">
            <a:avLst/>
          </a:prstGeom>
          <a:solidFill>
            <a:srgbClr val="0928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0C0DFE1-401C-B640-DDB2-6374C0804986}"/>
              </a:ext>
            </a:extLst>
          </p:cNvPr>
          <p:cNvSpPr/>
          <p:nvPr/>
        </p:nvSpPr>
        <p:spPr>
          <a:xfrm>
            <a:off x="210394" y="657361"/>
            <a:ext cx="7920000" cy="45719"/>
          </a:xfrm>
          <a:prstGeom prst="rect">
            <a:avLst/>
          </a:prstGeom>
          <a:solidFill>
            <a:srgbClr val="6184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7C7032-9AE0-AB53-7505-1FCD9C87EB95}"/>
              </a:ext>
            </a:extLst>
          </p:cNvPr>
          <p:cNvSpPr txBox="1"/>
          <p:nvPr/>
        </p:nvSpPr>
        <p:spPr>
          <a:xfrm>
            <a:off x="210393" y="838161"/>
            <a:ext cx="11438267" cy="5218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&lt;Results&gt;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MPC and MPC+RL controllers perform similarly under small model mismatches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when model mismatch is large, the MPC+RL controller performs noticeably better than MPC only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Specifically, MPC+RL models seem to have smaller overshoot while converging faster than MPC only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MPC+RL models have less oscillatory behaviors under push disturbances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 B shows that compared to a well tuned MPC controller, MPC+RL controller is more robust under push disturbances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between the algorithms trained by PPO and SAC showed similar results between the two training methods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SAC required significantly more training time compared to PPO</a:t>
            </a:r>
          </a:p>
          <a:p>
            <a:pPr lvl="1">
              <a:lnSpc>
                <a:spcPct val="150000"/>
              </a:lnSpc>
            </a:pP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&lt;Conclusion&gt;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mild model mismatch and no disturbances, MPC performs as well as MPC+RL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large model mismatch without disturbances, MPC fails while MPC+RL maintains partial stability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combined controller demonstrates clear benefits in robustness when the system experiences parameter uncertainty or unmodeled nonlinear effects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1D7F934-4D8C-155C-8715-FEF6BED93617}"/>
              </a:ext>
            </a:extLst>
          </p:cNvPr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0928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C378394-EA2A-789E-5BFC-5DEFCBB65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370F9-B2AE-4CC8-8DEC-A6E9A4457EE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3960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CF6F8-F50F-84A9-8EA0-1BDAC7F97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EE82A1-2F3F-D501-8F57-53F1845A2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924" y="6400"/>
            <a:ext cx="10515600" cy="732155"/>
          </a:xfrm>
        </p:spPr>
        <p:txBody>
          <a:bodyPr>
            <a:normAutofit/>
          </a:bodyPr>
          <a:lstStyle/>
          <a:p>
            <a:r>
              <a:rPr lang="en-US" altLang="ko-K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ko-KR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72E245A-33C5-D5E3-DC03-9208A19B9EE2}"/>
              </a:ext>
            </a:extLst>
          </p:cNvPr>
          <p:cNvSpPr/>
          <p:nvPr/>
        </p:nvSpPr>
        <p:spPr>
          <a:xfrm>
            <a:off x="0" y="0"/>
            <a:ext cx="12192000" cy="72000"/>
          </a:xfrm>
          <a:prstGeom prst="rect">
            <a:avLst/>
          </a:prstGeom>
          <a:solidFill>
            <a:srgbClr val="0928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7FE719B-9BB5-A06B-CAF2-D6FA64F2F17E}"/>
              </a:ext>
            </a:extLst>
          </p:cNvPr>
          <p:cNvSpPr/>
          <p:nvPr/>
        </p:nvSpPr>
        <p:spPr>
          <a:xfrm>
            <a:off x="210394" y="657361"/>
            <a:ext cx="7920000" cy="45719"/>
          </a:xfrm>
          <a:prstGeom prst="rect">
            <a:avLst/>
          </a:prstGeom>
          <a:solidFill>
            <a:srgbClr val="6184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BA838CD-A4F1-6A8F-EEA6-BE0C0C53F54F}"/>
              </a:ext>
            </a:extLst>
          </p:cNvPr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0928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4CFD80-6803-EB4E-79A9-90ED8A6225AF}"/>
              </a:ext>
            </a:extLst>
          </p:cNvPr>
          <p:cNvSpPr txBox="1"/>
          <p:nvPr/>
        </p:nvSpPr>
        <p:spPr>
          <a:xfrm>
            <a:off x="127924" y="858805"/>
            <a:ext cx="11583785" cy="29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E. García, D. M. Prett, and M. Morari, “Model predictive control: Theory and practice — a survey,” Automatica, vol. 25, no. 3, pp. 335–348, May 1989. </a:t>
            </a: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Bemporad and M. Morari, “Robust model predictive control: A survey,” in Robustness in Identification and Control, A. Garulli, A. Tesi, and A. Vicino, Eds., Lecture Notes in Control and Information Sciences, vol. 245, Springer-Verlag, London, 1999, pp. 207–226. doi:10.1007/BFb0109870 </a:t>
            </a: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Camacho and C. Bordons, Model Predictive Control, 2nd ed., London, UK: Springer, 2007.</a:t>
            </a: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Nikolaou, “Model predictive controllers: A critical synthesis of theory and industrial needs,” Advances in Chemical Engineering, vol. 26, Academic Press, 2001, pp. 131–204. 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Bemporad, F. Borrelli, and M. Morari, “Model predictive control based on linear programming — The explicit solution,” IEEE Trans. Autom. Control, vol. 47, no. 12, pp. 1974–1985, 2002.</a:t>
            </a: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Forgione, M., Piga, D. and </a:t>
            </a:r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Bemporad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2020. Efficient calibration of embedded MPC. IFAC-</a:t>
            </a:r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PapersOnLine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53(2), pp.5189-5194.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2117C11-5BF8-987E-BDA3-98AEDCF14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370F9-B2AE-4CC8-8DEC-A6E9A4457EE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5517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4028</TotalTime>
  <Words>1506</Words>
  <Application>Microsoft Office PowerPoint</Application>
  <PresentationFormat>와이드스크린</PresentationFormat>
  <Paragraphs>201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맑은 고딕</vt:lpstr>
      <vt:lpstr>Arial</vt:lpstr>
      <vt:lpstr>Cambria Math</vt:lpstr>
      <vt:lpstr>Times New Roman</vt:lpstr>
      <vt:lpstr>Office 테마</vt:lpstr>
      <vt:lpstr>PowerPoint 프레젠테이션</vt:lpstr>
      <vt:lpstr>Contents </vt:lpstr>
      <vt:lpstr>Introduction  </vt:lpstr>
      <vt:lpstr>System Modeling</vt:lpstr>
      <vt:lpstr>System Modeling</vt:lpstr>
      <vt:lpstr>Environment Configuration</vt:lpstr>
      <vt:lpstr>Experiment Results</vt:lpstr>
      <vt:lpstr>Experiment Results</vt:lpstr>
      <vt:lpstr>Experiment Results</vt:lpstr>
      <vt:lpstr>Experiment Results</vt:lpstr>
      <vt:lpstr>Comparison with SAC</vt:lpstr>
      <vt:lpstr>Results &amp; 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이충현</dc:creator>
  <cp:lastModifiedBy>Ginwoo Pyo</cp:lastModifiedBy>
  <cp:revision>594</cp:revision>
  <dcterms:created xsi:type="dcterms:W3CDTF">2025-09-24T12:12:44Z</dcterms:created>
  <dcterms:modified xsi:type="dcterms:W3CDTF">2025-12-06T04:03:43Z</dcterms:modified>
</cp:coreProperties>
</file>